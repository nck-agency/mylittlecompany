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57a54aa69149b8" /><Relationship Type="http://schemas.openxmlformats.org/officeDocument/2006/relationships/extended-properties" Target="/docProps/app.xml" Id="R450259ee3fb14969" /><Relationship Type="http://schemas.openxmlformats.org/officeDocument/2006/relationships/officeDocument" Target="/ppt/presentation.xml" Id="Ra55f56e070344e31" /></Relationships>
</file>

<file path=ppt/presentation.xml><?xml version="1.0" encoding="utf-8"?>
<p:presentation xmlns:p="http://schemas.openxmlformats.org/presentationml/2006/main">
  <p:sldMasterIdLst>
    <p:sldMasterId xmlns:r="http://schemas.openxmlformats.org/officeDocument/2006/relationships" id="2147483648" r:id="R69c332ecea024e05"/>
  </p:sldMasterIdLst>
  <p:notesMasterIdLst>
    <p:notesMasterId xmlns:r="http://schemas.openxmlformats.org/officeDocument/2006/relationships" r:id="R61164cc42f0544c8"/>
  </p:notesMasterIdLst>
  <p:sldIdLst>
    <p:sldId xmlns:r="http://schemas.openxmlformats.org/officeDocument/2006/relationships" id="256" r:id="R081bb95c690f4f2d"/>
    <p:sldId xmlns:r="http://schemas.openxmlformats.org/officeDocument/2006/relationships" id="257" r:id="R0cd7f60e55d446e3"/>
    <p:sldId xmlns:r="http://schemas.openxmlformats.org/officeDocument/2006/relationships" id="258" r:id="Ra4eb31810edc494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b0f4bb72e541ed" /><Relationship Type="http://schemas.openxmlformats.org/officeDocument/2006/relationships/slideMaster" Target="/ppt/slideMasters/slideMaster1.xml" Id="R69c332ecea024e05" /><Relationship Type="http://schemas.openxmlformats.org/officeDocument/2006/relationships/notesMaster" Target="/ppt/notesMasters/notesMaster1.xml" Id="R61164cc42f0544c8" /><Relationship Type="http://schemas.openxmlformats.org/officeDocument/2006/relationships/presProps" Target="/ppt/presProps.xml" Id="R33c9afc775d746ed" /><Relationship Type="http://schemas.openxmlformats.org/officeDocument/2006/relationships/tableStyles" Target="/ppt/tableStyles.xml" Id="Rd9c1798826774a22" /><Relationship Type="http://schemas.openxmlformats.org/officeDocument/2006/relationships/slide" Target="/ppt/slides/slide1.xml" Id="R081bb95c690f4f2d" /><Relationship Type="http://schemas.openxmlformats.org/officeDocument/2006/relationships/slide" Target="/ppt/slides/slide2.xml" Id="R0cd7f60e55d446e3" /><Relationship Type="http://schemas.openxmlformats.org/officeDocument/2006/relationships/slide" Target="/ppt/slides/slide3.xml" Id="Ra4eb31810edc49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782145e4544f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00b2108d9e4198" /><Relationship Type="http://schemas.openxmlformats.org/officeDocument/2006/relationships/notesMaster" Target="/ppt/notesMasters/notesMaster1.xml" Id="R4306991a83c74e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77027bc2b042f0" /><Relationship Type="http://schemas.openxmlformats.org/officeDocument/2006/relationships/notesMaster" Target="/ppt/notesMasters/notesMaster1.xml" Id="R0c0dd2c58ef846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8c92bd0dcd46c7" /><Relationship Type="http://schemas.openxmlformats.org/officeDocument/2006/relationships/notesMaster" Target="/ppt/notesMasters/notesMaster1.xml" Id="R1042820a4f1544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0:00–0:45</a:t>
            </a:r>
          </a:p>
          <a:p xmlns:a="http://schemas.openxmlformats.org/drawingml/2006/main">
            <a:r>
              <a:t/>
            </a:r>
          </a:p>
          <a:p xmlns:a="http://schemas.openxmlformats.org/drawingml/2006/main">
            <a:r>
              <a:t>In a small business, the owner is often the operating system. The pricing rule, the brand preference, the reason behind a decision—it all lives in one person’s head or disappears inside old conversations.</a:t>
            </a:r>
          </a:p>
          <a:p xmlns:a="http://schemas.openxmlformats.org/drawingml/2006/main">
            <a:r>
              <a:t/>
            </a:r>
          </a:p>
          <a:p xmlns:a="http://schemas.openxmlformats.org/drawingml/2006/main">
            <a:r>
              <a:t>That creates a simple but expensive problem: every employee and every AI assistant has to ask again, and the answer can change depending on who is available.</a:t>
            </a:r>
          </a:p>
          <a:p xmlns:a="http://schemas.openxmlformats.org/drawingml/2006/main">
            <a:r>
              <a:t/>
            </a:r>
          </a:p>
          <a:p xmlns:a="http://schemas.openxmlformats.org/drawingml/2006/main">
            <a:r>
              <a:t>My Little Company starts with a different promise: explain it once, and your company remembers.</a:t>
            </a:r>
          </a:p>
          <a:p xmlns:a="http://schemas.openxmlformats.org/drawingml/2006/main">
            <a:r>
              <a:t/>
            </a:r>
          </a:p>
          <a:p xmlns:a="http://schemas.openxmlformats.org/drawingml/2006/main">
            <a:r>
              <a:t>ACTION: Advance exactly on “remembers.”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0:45–1:25</a:t>
            </a:r>
          </a:p>
          <a:p xmlns:a="http://schemas.openxmlformats.org/drawingml/2006/main">
            <a:r>
              <a:t/>
            </a:r>
          </a:p>
          <a:p xmlns:a="http://schemas.openxmlformats.org/drawingml/2006/main">
            <a:r>
              <a:t>Chat is only the input. The product is the governed memory loop underneath it.</a:t>
            </a:r>
          </a:p>
          <a:p xmlns:a="http://schemas.openxmlformats.org/drawingml/2006/main">
            <a:r>
              <a:t/>
            </a:r>
          </a:p>
          <a:p xmlns:a="http://schemas.openxmlformats.org/drawingml/2006/main">
            <a:r>
              <a:t>The owner says something useful during normal work. My Little Company notices what may be worth keeping, but it does not silently make it company truth. It creates a clear suggestion with the statement, the reason, the source, and who it affects.</a:t>
            </a:r>
          </a:p>
          <a:p xmlns:a="http://schemas.openxmlformats.org/drawingml/2006/main">
            <a:r>
              <a:t/>
            </a:r>
          </a:p>
          <a:p xmlns:a="http://schemas.openxmlformats.org/drawingml/2006/main">
            <a:r>
              <a:t>A human approves it. Only then does it enter the Playbook and influence future work across Marketing, Operations, and employees.</a:t>
            </a:r>
          </a:p>
          <a:p xmlns:a="http://schemas.openxmlformats.org/drawingml/2006/main">
            <a:r>
              <a:t/>
            </a:r>
          </a:p>
          <a:p xmlns:a="http://schemas.openxmlformats.org/drawingml/2006/main">
            <a:r>
              <a:t>One conversation. One explicit approval. Consistent action everywhere.</a:t>
            </a:r>
          </a:p>
          <a:p xmlns:a="http://schemas.openxmlformats.org/drawingml/2006/main">
            <a:r>
              <a:t/>
            </a:r>
          </a:p>
          <a:p xmlns:a="http://schemas.openxmlformats.org/drawingml/2006/main">
            <a:r>
              <a:t>ACTION: Point left to right. Pause on human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1:25–1:40 — SLIDE</a:t>
            </a:r>
          </a:p>
          <a:p xmlns:a="http://schemas.openxmlformats.org/drawingml/2006/main">
            <a:r>
              <a:t/>
            </a:r>
          </a:p>
          <a:p xmlns:a="http://schemas.openxmlformats.org/drawingml/2006/main">
            <a:r>
              <a:t>Let’s teach the company one real rule and see how far it travels. We’ll start in Marketing, approve the knowledge, turn it into operations, and then test whether an employee gets the same answer.</a:t>
            </a:r>
          </a:p>
          <a:p xmlns:a="http://schemas.openxmlformats.org/drawingml/2006/main">
            <a:r>
              <a:t/>
            </a:r>
          </a:p>
          <a:p xmlns:a="http://schemas.openxmlformats.org/drawingml/2006/main">
            <a:r>
              <a:t>CLICK START LIVE DEMO or switch to the prepared browser tab.</a:t>
            </a:r>
          </a:p>
          <a:p xmlns:a="http://schemas.openxmlformats.org/drawingml/2006/main">
            <a:r>
              <a:t/>
            </a:r>
          </a:p>
          <a:p xmlns:a="http://schemas.openxmlformats.org/drawingml/2006/main">
            <a:r>
              <a:t>1:40–4:35 — LIVE DEMO</a:t>
            </a:r>
          </a:p>
          <a:p xmlns:a="http://schemas.openxmlformats.org/drawingml/2006/main">
            <a:r>
              <a:t>1. Marketing: “Tuesdays are quiet. Create a promotion to bring more customers in.”</a:t>
            </a:r>
          </a:p>
          <a:p xmlns:a="http://schemas.openxmlformats.org/drawingml/2006/main">
            <a:r>
              <a:t>2. Teach: “We never discount more than 15%. We prefer offering a free add-on because we want to maintain a premium image.”</a:t>
            </a:r>
          </a:p>
          <a:p xmlns:a="http://schemas.openxmlformats.org/drawingml/2006/main">
            <a:r>
              <a:t>3. Explain the suggested-knowledge card, then click Approve.</a:t>
            </a:r>
          </a:p>
          <a:p xmlns:a="http://schemas.openxmlformats.org/drawingml/2006/main">
            <a:r>
              <a:t>4. Ask Marketing to revise using approved company rules. If time is short, skip this step.</a:t>
            </a:r>
          </a:p>
          <a:p xmlns:a="http://schemas.openxmlformats.org/drawingml/2006/main">
            <a:r>
              <a:t>5. Operations: Generate Tuesday Promotion SOP; note that saving it creates a suggestion, not automatic approval.</a:t>
            </a:r>
          </a:p>
          <a:p xmlns:a="http://schemas.openxmlformats.org/drawingml/2006/main">
            <a:r>
              <a:t>6. Employee: “Can I give a customer 25% off?” Point out the clear No, rationale, source, and approval date.</a:t>
            </a:r>
          </a:p>
          <a:p xmlns:a="http://schemas.openxmlformats.org/drawingml/2006/main">
            <a:r>
              <a:t/>
            </a:r>
          </a:p>
          <a:p xmlns:a="http://schemas.openxmlformats.org/drawingml/2006/main">
            <a:r>
              <a:t>4:35–5:00 — CLOSE</a:t>
            </a:r>
          </a:p>
          <a:p xmlns:a="http://schemas.openxmlformats.org/drawingml/2006/main">
            <a:r>
              <a:t>Most AI tools help with one conversation. My Little Company helps the business become more consistent after that conversation is over. Chat is the input. Approved company memory is the product. Explain it once. Your company remembers.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f488f4c31349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f5d666ed8a4798" /><Relationship Type="http://schemas.openxmlformats.org/officeDocument/2006/relationships/slideLayout" Target="/ppt/slideLayouts/slideLayout1.xml" Id="Rb550826bd58348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50826bd58348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0b6a4cbed6c47de" /><Relationship Type="http://schemas.openxmlformats.org/officeDocument/2006/relationships/image" Target="/ppt/media/image.png" Id="R8e7b8438aac24539" /><Relationship Type="http://schemas.openxmlformats.org/officeDocument/2006/relationships/notesSlide" Target="/ppt/notesSlides/notesSlide1.xml" Id="Rc6a323625fcd45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7fc7888e4374712" /><Relationship Type="http://schemas.openxmlformats.org/officeDocument/2006/relationships/image" Target="/ppt/media/image2.png" Id="Rd841223c492149c8" /><Relationship Type="http://schemas.openxmlformats.org/officeDocument/2006/relationships/image" Target="/ppt/media/image3.png" Id="R20346309af62464a" /><Relationship Type="http://schemas.openxmlformats.org/officeDocument/2006/relationships/notesSlide" Target="/ppt/notesSlides/notesSlide2.xml" Id="Rf5e0523f63484f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50fe98cc2f24660" /><Relationship Type="http://schemas.openxmlformats.org/officeDocument/2006/relationships/hyperlink" Target="http://localhost:3000/chat?assistant=MARKETING" TargetMode="External" Id="Rfc9b481db0904b69" /><Relationship Type="http://schemas.openxmlformats.org/officeDocument/2006/relationships/image" Target="/ppt/media/image4.png" Id="Re6dd78ca5e154c76" /><Relationship Type="http://schemas.openxmlformats.org/officeDocument/2006/relationships/notesSlide" Target="/ppt/notesSlides/notesSlide3.xml" Id="Rc4e3c82be4d74f03" /></Relationships>
</file>

<file path=ppt/slides/slide1.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 name="s1-eyebrow">
            <a:extLst xmlns:a="http://schemas.openxmlformats.org/drawingml/2006/main">
              <a:ext uri="{FF2B5EF4-FFF2-40B4-BE49-F238E27FC236}">
                <a16:creationId xmlns:a16="http://schemas.microsoft.com/office/drawing/2014/main" id="{32683967-6EBC-4C0F-82B1-8C00FEC499C2}"/>
              </a:ext>
            </a:extLst>
          </p:cNvPr>
          <p:cNvSpPr>
            <a:spLocks xmlns:a="http://schemas.openxmlformats.org/drawingml/2006/main" noGrp="1"/>
          </p:cNvSpPr>
          <p:nvPr/>
        </p:nvSpPr>
        <p:spPr>
          <a:xfrm xmlns:a="http://schemas.openxmlformats.org/drawingml/2006/main">
            <a:off x="533400" y="45720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1746D1"/>
                </a:solidFill>
                <a:latin typeface="Avenir Next Condensed"/>
                <a:ea typeface="Avenir Next Condensed"/>
                <a:cs typeface="Avenir Next Condensed"/>
              </a:defRPr>
            </a:pPr>
            <a:r>
              <a:rPr sz="1500" b="1">
                <a:solidFill>
                  <a:srgbClr val="1746D1"/>
                </a:solidFill>
                <a:latin typeface="Avenir Next Condensed"/>
                <a:ea typeface="Avenir Next Condensed"/>
                <a:cs typeface="Avenir Next Condensed"/>
              </a:rPr>
              <a:t>MY LITTLE COMPANY</a:t>
            </a:r>
          </a:p>
        </p:txBody>
      </p:sp>
      <p:sp>
        <p:nvSpPr>
          <p:cNvPr id="2" name="s1-title">
            <a:extLst xmlns:a="http://schemas.openxmlformats.org/drawingml/2006/main">
              <a:ext uri="{FF2B5EF4-FFF2-40B4-BE49-F238E27FC236}">
                <a16:creationId xmlns:a16="http://schemas.microsoft.com/office/drawing/2014/main" id="{7384345B-3CEF-4251-A251-DECC09304379}"/>
              </a:ext>
            </a:extLst>
          </p:cNvPr>
          <p:cNvSpPr>
            <a:spLocks xmlns:a="http://schemas.openxmlformats.org/drawingml/2006/main" noGrp="1"/>
          </p:cNvSpPr>
          <p:nvPr/>
        </p:nvSpPr>
        <p:spPr>
          <a:xfrm xmlns:a="http://schemas.openxmlformats.org/drawingml/2006/main">
            <a:off x="533400" y="1162050"/>
            <a:ext cx="666750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5700" b="1">
                <a:solidFill>
                  <a:srgbClr val="1746D1"/>
                </a:solidFill>
                <a:latin typeface="Avenir Next Condensed"/>
                <a:ea typeface="Avenir Next Condensed"/>
                <a:cs typeface="Avenir Next Condensed"/>
              </a:defRPr>
            </a:pPr>
            <a:r>
              <a:rPr sz="5700" b="1">
                <a:solidFill>
                  <a:srgbClr val="1746D1"/>
                </a:solidFill>
                <a:latin typeface="Avenir Next Condensed"/>
                <a:ea typeface="Avenir Next Condensed"/>
                <a:cs typeface="Avenir Next Condensed"/>
              </a:rPr>
              <a:t>The owner is the</a:t>
            </a:r>
          </a:p>
          <a:p xmlns:a="http://schemas.openxmlformats.org/drawingml/2006/main">
            <a:pPr algn="l">
              <a:buNone/>
              <a:defRPr sz="5700" b="1">
                <a:solidFill>
                  <a:srgbClr val="1746D1"/>
                </a:solidFill>
                <a:latin typeface="Avenir Next Condensed"/>
                <a:ea typeface="Avenir Next Condensed"/>
                <a:cs typeface="Avenir Next Condensed"/>
              </a:defRPr>
            </a:pPr>
            <a:r>
              <a:rPr sz="5700" b="1">
                <a:solidFill>
                  <a:srgbClr val="1746D1"/>
                </a:solidFill>
                <a:latin typeface="Avenir Next Condensed"/>
                <a:ea typeface="Avenir Next Condensed"/>
                <a:cs typeface="Avenir Next Condensed"/>
              </a:rPr>
              <a:t>operating system.</a:t>
            </a:r>
          </a:p>
        </p:txBody>
      </p:sp>
      <p:sp>
        <p:nvSpPr>
          <p:cNvPr id="3" name="s1-subtitle">
            <a:extLst xmlns:a="http://schemas.openxmlformats.org/drawingml/2006/main">
              <a:ext uri="{FF2B5EF4-FFF2-40B4-BE49-F238E27FC236}">
                <a16:creationId xmlns:a16="http://schemas.microsoft.com/office/drawing/2014/main" id="{8D52B27F-77A6-49B1-8C4F-F6874F058D5E}"/>
              </a:ext>
            </a:extLst>
          </p:cNvPr>
          <p:cNvSpPr>
            <a:spLocks xmlns:a="http://schemas.openxmlformats.org/drawingml/2006/main" noGrp="1"/>
          </p:cNvSpPr>
          <p:nvPr/>
        </p:nvSpPr>
        <p:spPr>
          <a:xfrm xmlns:a="http://schemas.openxmlformats.org/drawingml/2006/main">
            <a:off x="571500" y="3524250"/>
            <a:ext cx="5619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0">
                <a:solidFill>
                  <a:srgbClr val="293331"/>
                </a:solidFill>
                <a:latin typeface="Avenir Next"/>
                <a:ea typeface="Avenir Next"/>
                <a:cs typeface="Avenir Next"/>
              </a:defRPr>
            </a:pPr>
            <a:r>
              <a:rPr sz="2400" b="0">
                <a:solidFill>
                  <a:srgbClr val="293331"/>
                </a:solidFill>
                <a:latin typeface="Avenir Next"/>
                <a:ea typeface="Avenir Next"/>
                <a:cs typeface="Avenir Next"/>
              </a:rPr>
              <a:t>When they leave the room,</a:t>
            </a:r>
          </a:p>
          <a:p xmlns:a="http://schemas.openxmlformats.org/drawingml/2006/main">
            <a:pPr algn="l">
              <a:buNone/>
              <a:defRPr sz="2400" b="0">
                <a:solidFill>
                  <a:srgbClr val="293331"/>
                </a:solidFill>
                <a:latin typeface="Avenir Next"/>
                <a:ea typeface="Avenir Next"/>
                <a:cs typeface="Avenir Next"/>
              </a:defRPr>
            </a:pPr>
            <a:r>
              <a:rPr sz="2400" b="0">
                <a:solidFill>
                  <a:srgbClr val="293331"/>
                </a:solidFill>
                <a:latin typeface="Avenir Next"/>
                <a:ea typeface="Avenir Next"/>
                <a:cs typeface="Avenir Next"/>
              </a:rPr>
              <a:t>decisions disappear.</a:t>
            </a:r>
          </a:p>
        </p:txBody>
      </p:sp>
      <p:sp>
        <p:nvSpPr>
          <p:cNvPr id="4" name="s1-frag-blue">
            <a:extLst xmlns:a="http://schemas.openxmlformats.org/drawingml/2006/main">
              <a:ext uri="{FF2B5EF4-FFF2-40B4-BE49-F238E27FC236}">
                <a16:creationId xmlns:a16="http://schemas.microsoft.com/office/drawing/2014/main" id="{D6A6E09F-08AC-4796-B46A-43AF33577A43}"/>
              </a:ext>
            </a:extLst>
          </p:cNvPr>
          <p:cNvSpPr>
            <a:spLocks xmlns:a="http://schemas.openxmlformats.org/drawingml/2006/main" noGrp="1"/>
          </p:cNvSpPr>
          <p:nvPr/>
        </p:nvSpPr>
        <p:spPr>
          <a:xfrm xmlns:a="http://schemas.openxmlformats.org/drawingml/2006/main" rot="0">
            <a:off x="7810500" y="742950"/>
            <a:ext cx="1200150" cy="1066800"/>
          </a:xfrm>
          <a:prstGeom xmlns:a="http://schemas.openxmlformats.org/drawingml/2006/main" prst="chevron">
            <a:avLst/>
          </a:prstGeom>
          <a:solidFill xmlns:a="http://schemas.openxmlformats.org/drawingml/2006/main">
            <a:srgbClr val="1746D1"/>
          </a:solidFill>
          <a:ln xmlns:a="http://schemas.openxmlformats.org/drawingml/2006/main" w="0">
            <a:noFill/>
            <a:prstDash val="solid"/>
          </a:ln>
        </p:spPr>
      </p:sp>
      <p:sp>
        <p:nvSpPr>
          <p:cNvPr id="5" name="s1-frag-yellow">
            <a:extLst xmlns:a="http://schemas.openxmlformats.org/drawingml/2006/main">
              <a:ext uri="{FF2B5EF4-FFF2-40B4-BE49-F238E27FC236}">
                <a16:creationId xmlns:a16="http://schemas.microsoft.com/office/drawing/2014/main" id="{F7DF104C-CD1E-4BFE-88E4-464F7580E3CE}"/>
              </a:ext>
            </a:extLst>
          </p:cNvPr>
          <p:cNvSpPr>
            <a:spLocks xmlns:a="http://schemas.openxmlformats.org/drawingml/2006/main" noGrp="1"/>
          </p:cNvSpPr>
          <p:nvPr/>
        </p:nvSpPr>
        <p:spPr>
          <a:xfrm xmlns:a="http://schemas.openxmlformats.org/drawingml/2006/main" rot="5400000">
            <a:off x="10325100" y="781050"/>
            <a:ext cx="1143000" cy="1028700"/>
          </a:xfrm>
          <a:prstGeom xmlns:a="http://schemas.openxmlformats.org/drawingml/2006/main" prst="chevron">
            <a:avLst/>
          </a:prstGeom>
          <a:solidFill xmlns:a="http://schemas.openxmlformats.org/drawingml/2006/main">
            <a:srgbClr val="F4D77A"/>
          </a:solidFill>
          <a:ln xmlns:a="http://schemas.openxmlformats.org/drawingml/2006/main" w="0">
            <a:noFill/>
            <a:prstDash val="solid"/>
          </a:ln>
        </p:spPr>
      </p:sp>
      <p:sp>
        <p:nvSpPr>
          <p:cNvPr id="6" name="s1-frag-coral">
            <a:extLst xmlns:a="http://schemas.openxmlformats.org/drawingml/2006/main">
              <a:ext uri="{FF2B5EF4-FFF2-40B4-BE49-F238E27FC236}">
                <a16:creationId xmlns:a16="http://schemas.microsoft.com/office/drawing/2014/main" id="{F8306023-5E60-46BB-9B34-81EF86FB79AC}"/>
              </a:ext>
            </a:extLst>
          </p:cNvPr>
          <p:cNvSpPr>
            <a:spLocks xmlns:a="http://schemas.openxmlformats.org/drawingml/2006/main" noGrp="1"/>
          </p:cNvSpPr>
          <p:nvPr/>
        </p:nvSpPr>
        <p:spPr>
          <a:xfrm xmlns:a="http://schemas.openxmlformats.org/drawingml/2006/main" rot="10800000">
            <a:off x="10287000" y="4457700"/>
            <a:ext cx="1219200" cy="1066800"/>
          </a:xfrm>
          <a:prstGeom xmlns:a="http://schemas.openxmlformats.org/drawingml/2006/main" prst="chevron">
            <a:avLst/>
          </a:prstGeom>
          <a:solidFill xmlns:a="http://schemas.openxmlformats.org/drawingml/2006/main">
            <a:srgbClr val="ED654F"/>
          </a:solidFill>
          <a:ln xmlns:a="http://schemas.openxmlformats.org/drawingml/2006/main" w="0">
            <a:noFill/>
            <a:prstDash val="solid"/>
          </a:ln>
        </p:spPr>
      </p:sp>
      <p:sp>
        <p:nvSpPr>
          <p:cNvPr id="7" name="s1-frag-pale">
            <a:extLst xmlns:a="http://schemas.openxmlformats.org/drawingml/2006/main">
              <a:ext uri="{FF2B5EF4-FFF2-40B4-BE49-F238E27FC236}">
                <a16:creationId xmlns:a16="http://schemas.microsoft.com/office/drawing/2014/main" id="{C75B90E0-16E6-4ECD-A925-C4EDE32B282A}"/>
              </a:ext>
            </a:extLst>
          </p:cNvPr>
          <p:cNvSpPr>
            <a:spLocks xmlns:a="http://schemas.openxmlformats.org/drawingml/2006/main" noGrp="1"/>
          </p:cNvSpPr>
          <p:nvPr/>
        </p:nvSpPr>
        <p:spPr>
          <a:xfrm xmlns:a="http://schemas.openxmlformats.org/drawingml/2006/main" rot="16200000">
            <a:off x="7810500" y="4476750"/>
            <a:ext cx="1200150" cy="1047750"/>
          </a:xfrm>
          <a:prstGeom xmlns:a="http://schemas.openxmlformats.org/drawingml/2006/main" prst="chevron">
            <a:avLst/>
          </a:prstGeom>
          <a:solidFill xmlns:a="http://schemas.openxmlformats.org/drawingml/2006/main">
            <a:srgbClr val="DCE5FF"/>
          </a:solidFill>
          <a:ln xmlns:a="http://schemas.openxmlformats.org/drawingml/2006/main" w="0">
            <a:noFill/>
            <a:prstDash val="solid"/>
          </a:ln>
        </p:spPr>
      </p:sp>
      <p:sp>
        <p:nvSpPr>
          <p:cNvPr id="8" name="s1-chip-0">
            <a:extLst xmlns:a="http://schemas.openxmlformats.org/drawingml/2006/main">
              <a:ext uri="{FF2B5EF4-FFF2-40B4-BE49-F238E27FC236}">
                <a16:creationId xmlns:a16="http://schemas.microsoft.com/office/drawing/2014/main" id="{4F0C6B7E-8CBC-4AC2-952C-8605CA5D78B8}"/>
              </a:ext>
            </a:extLst>
          </p:cNvPr>
          <p:cNvSpPr>
            <a:spLocks xmlns:a="http://schemas.openxmlformats.org/drawingml/2006/main" noGrp="1"/>
          </p:cNvSpPr>
          <p:nvPr/>
        </p:nvSpPr>
        <p:spPr>
          <a:xfrm xmlns:a="http://schemas.openxmlformats.org/drawingml/2006/main" rot="-420000">
            <a:off x="7448550" y="2266950"/>
            <a:ext cx="1657350" cy="647700"/>
          </a:xfrm>
          <a:prstGeom xmlns:a="http://schemas.openxmlformats.org/drawingml/2006/main" prst="roundRect">
            <a:avLst>
              <a:gd name="adj" fmla="val 14706"/>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txBody>
          <a:bodyPr xmlns:a="http://schemas.openxmlformats.org/drawingml/2006/main" lIns="95250" tIns="38100" rIns="95250" bIns="38100" anchor="ctr">
            <a:normAutofit fontScale="100000"/>
          </a:bodyPr>
          <a:lstStyle xmlns:a="http://schemas.openxmlformats.org/drawingml/2006/main"/>
          <a:p xmlns:a="http://schemas.openxmlformats.org/drawingml/2006/main">
            <a:pPr algn="ctr">
              <a:buNone/>
              <a:defRPr sz="1650" b="1">
                <a:solidFill>
                  <a:srgbClr val="293331"/>
                </a:solidFill>
                <a:latin typeface="Avenir Next"/>
                <a:ea typeface="Avenir Next"/>
                <a:cs typeface="Avenir Next"/>
              </a:defRPr>
            </a:pPr>
            <a:r>
              <a:rPr sz="1650" b="1">
                <a:solidFill>
                  <a:srgbClr val="293331"/>
                </a:solidFill>
                <a:latin typeface="Avenir Next"/>
                <a:ea typeface="Avenir Next"/>
                <a:cs typeface="Avenir Next"/>
              </a:rPr>
              <a:t>15% max</a:t>
            </a:r>
          </a:p>
        </p:txBody>
      </p:sp>
      <p:sp>
        <p:nvSpPr>
          <p:cNvPr id="9" name="s1-chip-1">
            <a:extLst xmlns:a="http://schemas.openxmlformats.org/drawingml/2006/main">
              <a:ext uri="{FF2B5EF4-FFF2-40B4-BE49-F238E27FC236}">
                <a16:creationId xmlns:a16="http://schemas.microsoft.com/office/drawing/2014/main" id="{160E1200-4C40-4844-A878-379BC70F1816}"/>
              </a:ext>
            </a:extLst>
          </p:cNvPr>
          <p:cNvSpPr>
            <a:spLocks xmlns:a="http://schemas.openxmlformats.org/drawingml/2006/main" noGrp="1"/>
          </p:cNvSpPr>
          <p:nvPr/>
        </p:nvSpPr>
        <p:spPr>
          <a:xfrm xmlns:a="http://schemas.openxmlformats.org/drawingml/2006/main" rot="300000">
            <a:off x="9696450" y="2190750"/>
            <a:ext cx="2000250" cy="647700"/>
          </a:xfrm>
          <a:prstGeom xmlns:a="http://schemas.openxmlformats.org/drawingml/2006/main" prst="roundRect">
            <a:avLst>
              <a:gd name="adj" fmla="val 14706"/>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txBody>
          <a:bodyPr xmlns:a="http://schemas.openxmlformats.org/drawingml/2006/main" lIns="95250" tIns="38100" rIns="95250" bIns="38100" anchor="ctr">
            <a:normAutofit fontScale="100000"/>
          </a:bodyPr>
          <a:lstStyle xmlns:a="http://schemas.openxmlformats.org/drawingml/2006/main"/>
          <a:p xmlns:a="http://schemas.openxmlformats.org/drawingml/2006/main">
            <a:pPr algn="ctr">
              <a:buNone/>
              <a:defRPr sz="1650" b="1">
                <a:solidFill>
                  <a:srgbClr val="293331"/>
                </a:solidFill>
                <a:latin typeface="Avenir Next"/>
                <a:ea typeface="Avenir Next"/>
                <a:cs typeface="Avenir Next"/>
              </a:defRPr>
            </a:pPr>
            <a:r>
              <a:rPr sz="1650" b="1">
                <a:solidFill>
                  <a:srgbClr val="293331"/>
                </a:solidFill>
                <a:latin typeface="Avenir Next"/>
                <a:ea typeface="Avenir Next"/>
                <a:cs typeface="Avenir Next"/>
              </a:rPr>
              <a:t>Prefer add-ons</a:t>
            </a:r>
          </a:p>
        </p:txBody>
      </p:sp>
      <p:sp>
        <p:nvSpPr>
          <p:cNvPr id="10" name="s1-chip-2">
            <a:extLst xmlns:a="http://schemas.openxmlformats.org/drawingml/2006/main">
              <a:ext uri="{FF2B5EF4-FFF2-40B4-BE49-F238E27FC236}">
                <a16:creationId xmlns:a16="http://schemas.microsoft.com/office/drawing/2014/main" id="{09136D0F-B32B-4EF6-9F5C-E47B4AE1D627}"/>
              </a:ext>
            </a:extLst>
          </p:cNvPr>
          <p:cNvSpPr>
            <a:spLocks xmlns:a="http://schemas.openxmlformats.org/drawingml/2006/main" noGrp="1"/>
          </p:cNvSpPr>
          <p:nvPr/>
        </p:nvSpPr>
        <p:spPr>
          <a:xfrm xmlns:a="http://schemas.openxmlformats.org/drawingml/2006/main" rot="-180000">
            <a:off x="8477250" y="3476625"/>
            <a:ext cx="2000250" cy="647700"/>
          </a:xfrm>
          <a:prstGeom xmlns:a="http://schemas.openxmlformats.org/drawingml/2006/main" prst="roundRect">
            <a:avLst>
              <a:gd name="adj" fmla="val 14706"/>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txBody>
          <a:bodyPr xmlns:a="http://schemas.openxmlformats.org/drawingml/2006/main" lIns="95250" tIns="38100" rIns="95250" bIns="38100" anchor="ctr">
            <a:normAutofit fontScale="100000"/>
          </a:bodyPr>
          <a:lstStyle xmlns:a="http://schemas.openxmlformats.org/drawingml/2006/main"/>
          <a:p xmlns:a="http://schemas.openxmlformats.org/drawingml/2006/main">
            <a:pPr algn="ctr">
              <a:buNone/>
              <a:defRPr sz="1650" b="1">
                <a:solidFill>
                  <a:srgbClr val="293331"/>
                </a:solidFill>
                <a:latin typeface="Avenir Next"/>
                <a:ea typeface="Avenir Next"/>
                <a:cs typeface="Avenir Next"/>
              </a:defRPr>
            </a:pPr>
            <a:r>
              <a:rPr sz="1650" b="1">
                <a:solidFill>
                  <a:srgbClr val="293331"/>
                </a:solidFill>
                <a:latin typeface="Avenir Next"/>
                <a:ea typeface="Avenir Next"/>
                <a:cs typeface="Avenir Next"/>
              </a:rPr>
              <a:t>Premium image</a:t>
            </a:r>
          </a:p>
        </p:txBody>
      </p:sp>
      <p:sp>
        <p:nvSpPr>
          <p:cNvPr id="11" name="s1-promise">
            <a:extLst xmlns:a="http://schemas.openxmlformats.org/drawingml/2006/main">
              <a:ext uri="{FF2B5EF4-FFF2-40B4-BE49-F238E27FC236}">
                <a16:creationId xmlns:a16="http://schemas.microsoft.com/office/drawing/2014/main" id="{E109B882-6EAE-4256-8EFF-3A49B6BEF65D}"/>
              </a:ext>
            </a:extLst>
          </p:cNvPr>
          <p:cNvSpPr>
            <a:spLocks xmlns:a="http://schemas.openxmlformats.org/drawingml/2006/main" noGrp="1"/>
          </p:cNvSpPr>
          <p:nvPr/>
        </p:nvSpPr>
        <p:spPr>
          <a:xfrm xmlns:a="http://schemas.openxmlformats.org/drawingml/2006/main">
            <a:off x="533400" y="5200650"/>
            <a:ext cx="6191250" cy="800100"/>
          </a:xfrm>
          <a:prstGeom xmlns:a="http://schemas.openxmlformats.org/drawingml/2006/main" prst="roundRect">
            <a:avLst>
              <a:gd name="adj" fmla="val 14286"/>
            </a:avLst>
          </a:prstGeom>
          <a:solidFill xmlns:a="http://schemas.openxmlformats.org/drawingml/2006/main">
            <a:srgbClr val="ED654F"/>
          </a:solidFill>
          <a:ln xmlns:a="http://schemas.openxmlformats.org/drawingml/2006/main" w="0">
            <a:noFill/>
            <a:prstDash val="solid"/>
          </a:ln>
        </p:spPr>
        <p:txBody>
          <a:bodyPr xmlns:a="http://schemas.openxmlformats.org/drawingml/2006/main" lIns="190500" tIns="76200" rIns="190500" bIns="76200" anchor="ctr">
            <a:normAutofit fontScale="100000"/>
          </a:bodyPr>
          <a:lstStyle xmlns:a="http://schemas.openxmlformats.org/drawingml/2006/main"/>
          <a:p xmlns:a="http://schemas.openxmlformats.org/drawingml/2006/main">
            <a:pPr algn="ctr">
              <a:buNone/>
              <a:defRPr sz="2100" b="1">
                <a:solidFill>
                  <a:srgbClr val="FAF7EF"/>
                </a:solidFill>
                <a:latin typeface="Avenir Next"/>
                <a:ea typeface="Avenir Next"/>
                <a:cs typeface="Avenir Next"/>
              </a:defRPr>
            </a:pPr>
            <a:r>
              <a:rPr sz="2100" b="1">
                <a:solidFill>
                  <a:srgbClr val="FAF7EF"/>
                </a:solidFill>
                <a:latin typeface="Avenir Next"/>
                <a:ea typeface="Avenir Next"/>
                <a:cs typeface="Avenir Next"/>
              </a:rPr>
              <a:t>Explain it once. Your company remembers.</a:t>
            </a:r>
          </a:p>
        </p:txBody>
      </p:sp>
      <p:sp>
        <p:nvSpPr>
          <p:cNvPr id="12" name="footer-brand-1">
            <a:extLst xmlns:a="http://schemas.openxmlformats.org/drawingml/2006/main">
              <a:ext uri="{FF2B5EF4-FFF2-40B4-BE49-F238E27FC236}">
                <a16:creationId xmlns:a16="http://schemas.microsoft.com/office/drawing/2014/main" id="{91447CAB-674B-40B4-B835-5C656F7FB76E}"/>
              </a:ext>
            </a:extLst>
          </p:cNvPr>
          <p:cNvSpPr>
            <a:spLocks xmlns:a="http://schemas.openxmlformats.org/drawingml/2006/main" noGrp="1"/>
          </p:cNvSpPr>
          <p:nvPr/>
        </p:nvSpPr>
        <p:spPr>
          <a:xfrm xmlns:a="http://schemas.openxmlformats.org/drawingml/2006/main">
            <a:off x="895350" y="64008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1746D1"/>
                </a:solidFill>
                <a:latin typeface="Avenir Next Condensed"/>
                <a:ea typeface="Avenir Next Condensed"/>
                <a:cs typeface="Avenir Next Condensed"/>
              </a:defRPr>
            </a:pPr>
            <a:r>
              <a:rPr sz="1200" b="1">
                <a:solidFill>
                  <a:srgbClr val="1746D1"/>
                </a:solidFill>
                <a:latin typeface="Avenir Next Condensed"/>
                <a:ea typeface="Avenir Next Condensed"/>
                <a:cs typeface="Avenir Next Condensed"/>
              </a:rPr>
              <a:t>MY LITTLE COMPANY</a:t>
            </a:r>
          </a:p>
        </p:txBody>
      </p:sp>
      <p:sp>
        <p:nvSpPr>
          <p:cNvPr id="13" name="footer-number-1">
            <a:extLst xmlns:a="http://schemas.openxmlformats.org/drawingml/2006/main">
              <a:ext uri="{FF2B5EF4-FFF2-40B4-BE49-F238E27FC236}">
                <a16:creationId xmlns:a16="http://schemas.microsoft.com/office/drawing/2014/main" id="{BFAEF2A8-9482-426E-9CD6-560460F27970}"/>
              </a:ext>
            </a:extLst>
          </p:cNvPr>
          <p:cNvSpPr>
            <a:spLocks xmlns:a="http://schemas.openxmlformats.org/drawingml/2006/main" noGrp="1"/>
          </p:cNvSpPr>
          <p:nvPr/>
        </p:nvSpPr>
        <p:spPr>
          <a:xfrm xmlns:a="http://schemas.openxmlformats.org/drawingml/2006/main">
            <a:off x="11258550" y="64008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1">
                <a:solidFill>
                  <a:srgbClr val="293331"/>
                </a:solidFill>
                <a:latin typeface="Avenir Next"/>
                <a:ea typeface="Avenir Next"/>
                <a:cs typeface="Avenir Next"/>
              </a:defRPr>
            </a:pPr>
            <a:r>
              <a:rPr sz="1050" b="1">
                <a:solidFill>
                  <a:srgbClr val="293331"/>
                </a:solidFill>
                <a:latin typeface="Avenir Next"/>
                <a:ea typeface="Avenir Next"/>
                <a:cs typeface="Avenir Next"/>
              </a:rPr>
              <a:t>01</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8e7b8438aac24539"/>
          <a:stretch xmlns:a="http://schemas.openxmlformats.org/drawingml/2006/main"/>
        </p:blipFill>
        <p:spPr>
          <a:xfrm xmlns:a="http://schemas.openxmlformats.org/drawingml/2006/main">
            <a:off x="533400" y="6362700"/>
            <a:ext cx="266700" cy="266700"/>
          </a:xfrm>
          <a:prstGeom xmlns:a="http://schemas.openxmlformats.org/drawingml/2006/main" prst="rect">
            <a:avLst/>
          </a:prstGeom>
        </p:spPr>
      </p:pic>
    </p:spTree>
    <p:extLst>
      <p:ext uri="{BB962C8B-B14F-4D97-AF65-F5344CB8AC3E}">
        <p14:creationId xmlns:p14="http://schemas.microsoft.com/office/powerpoint/2010/main" val="199695074"/>
      </p:ext>
    </p:extLst>
  </p:cSld>
</p:sld>
</file>

<file path=ppt/slides/slide2.xml><?xml version="1.0" encoding="utf-8"?>
<p:sld xmlns:p="http://schemas.openxmlformats.org/presentationml/2006/main">
  <p:cSld>
    <p:bg>
      <p:bgPr>
        <a:solidFill xmlns:a="http://schemas.openxmlformats.org/drawingml/2006/main">
          <a:srgbClr val="12318A"/>
        </a:solidFill>
      </p:bgPr>
    </p:bg>
    <p:spTree>
      <p:nvGrpSpPr>
        <p:cNvPr id="1" name=""/>
        <p:cNvGrpSpPr/>
        <p:nvPr/>
      </p:nvGrpSpPr>
      <p:grpSpPr>
        <a:xfrm xmlns:a="http://schemas.openxmlformats.org/drawingml/2006/main"/>
      </p:grpSpPr>
      <p:sp>
        <p:nvSpPr>
          <p:cNvPr id="1" name="s2-title">
            <a:extLst xmlns:a="http://schemas.openxmlformats.org/drawingml/2006/main">
              <a:ext uri="{FF2B5EF4-FFF2-40B4-BE49-F238E27FC236}">
                <a16:creationId xmlns:a16="http://schemas.microsoft.com/office/drawing/2014/main" id="{9FE918C5-EAEC-4506-8229-C7ECAC123390}"/>
              </a:ext>
            </a:extLst>
          </p:cNvPr>
          <p:cNvSpPr>
            <a:spLocks xmlns:a="http://schemas.openxmlformats.org/drawingml/2006/main" noGrp="1"/>
          </p:cNvSpPr>
          <p:nvPr/>
        </p:nvSpPr>
        <p:spPr>
          <a:xfrm xmlns:a="http://schemas.openxmlformats.org/drawingml/2006/main">
            <a:off x="533400" y="457200"/>
            <a:ext cx="7429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4050" b="1">
                <a:solidFill>
                  <a:srgbClr val="FAF7EF"/>
                </a:solidFill>
                <a:latin typeface="Avenir Next Condensed"/>
                <a:ea typeface="Avenir Next Condensed"/>
                <a:cs typeface="Avenir Next Condensed"/>
              </a:defRPr>
            </a:pPr>
            <a:r>
              <a:rPr sz="4050" b="1">
                <a:solidFill>
                  <a:srgbClr val="FAF7EF"/>
                </a:solidFill>
                <a:latin typeface="Avenir Next Condensed"/>
                <a:ea typeface="Avenir Next Condensed"/>
                <a:cs typeface="Avenir Next Condensed"/>
              </a:rPr>
              <a:t>Conversation is not company truth.</a:t>
            </a:r>
          </a:p>
        </p:txBody>
      </p:sp>
      <p:sp>
        <p:nvSpPr>
          <p:cNvPr id="2" name="s2-trust-rule">
            <a:extLst xmlns:a="http://schemas.openxmlformats.org/drawingml/2006/main">
              <a:ext uri="{FF2B5EF4-FFF2-40B4-BE49-F238E27FC236}">
                <a16:creationId xmlns:a16="http://schemas.microsoft.com/office/drawing/2014/main" id="{0B3638CA-6AE4-4624-A140-DA4F69708869}"/>
              </a:ext>
            </a:extLst>
          </p:cNvPr>
          <p:cNvSpPr>
            <a:spLocks xmlns:a="http://schemas.openxmlformats.org/drawingml/2006/main" noGrp="1"/>
          </p:cNvSpPr>
          <p:nvPr/>
        </p:nvSpPr>
        <p:spPr>
          <a:xfrm xmlns:a="http://schemas.openxmlformats.org/drawingml/2006/main">
            <a:off x="8267700" y="476250"/>
            <a:ext cx="3352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950" b="1">
                <a:solidFill>
                  <a:srgbClr val="F4D77A"/>
                </a:solidFill>
                <a:latin typeface="Avenir Next"/>
                <a:ea typeface="Avenir Next"/>
                <a:cs typeface="Avenir Next"/>
              </a:defRPr>
            </a:pPr>
            <a:r>
              <a:rPr sz="1950" b="1">
                <a:solidFill>
                  <a:srgbClr val="F4D77A"/>
                </a:solidFill>
                <a:latin typeface="Avenir Next"/>
                <a:ea typeface="Avenir Next"/>
                <a:cs typeface="Avenir Next"/>
              </a:rPr>
              <a:t>Only approved knowledge</a:t>
            </a:r>
          </a:p>
          <a:p xmlns:a="http://schemas.openxmlformats.org/drawingml/2006/main">
            <a:pPr algn="r">
              <a:buNone/>
              <a:defRPr sz="1950" b="1">
                <a:solidFill>
                  <a:srgbClr val="F4D77A"/>
                </a:solidFill>
                <a:latin typeface="Avenir Next"/>
                <a:ea typeface="Avenir Next"/>
                <a:cs typeface="Avenir Next"/>
              </a:defRPr>
            </a:pPr>
            <a:r>
              <a:rPr sz="1950" b="1">
                <a:solidFill>
                  <a:srgbClr val="F4D77A"/>
                </a:solidFill>
                <a:latin typeface="Avenir Next"/>
                <a:ea typeface="Avenir Next"/>
                <a:cs typeface="Avenir Next"/>
              </a:rPr>
              <a:t>can guide future work.</a:t>
            </a:r>
          </a:p>
        </p:txBody>
      </p:sp>
      <p:sp>
        <p:nvSpPr>
          <p:cNvPr id="3" name="s2-arrow-0">
            <a:extLst xmlns:a="http://schemas.openxmlformats.org/drawingml/2006/main">
              <a:ext uri="{FF2B5EF4-FFF2-40B4-BE49-F238E27FC236}">
                <a16:creationId xmlns:a16="http://schemas.microsoft.com/office/drawing/2014/main" id="{4C0A22FC-641D-4B17-8AE0-4227EC4E36E8}"/>
              </a:ext>
            </a:extLst>
          </p:cNvPr>
          <p:cNvSpPr>
            <a:spLocks xmlns:a="http://schemas.openxmlformats.org/drawingml/2006/main" noGrp="1"/>
          </p:cNvSpPr>
          <p:nvPr/>
        </p:nvSpPr>
        <p:spPr>
          <a:xfrm xmlns:a="http://schemas.openxmlformats.org/drawingml/2006/main">
            <a:off x="2781300" y="3333750"/>
            <a:ext cx="876300" cy="361950"/>
          </a:xfrm>
          <a:prstGeom xmlns:a="http://schemas.openxmlformats.org/drawingml/2006/main" prst="rightArrow">
            <a:avLst/>
          </a:prstGeom>
          <a:solidFill xmlns:a="http://schemas.openxmlformats.org/drawingml/2006/main">
            <a:srgbClr val="1746D1"/>
          </a:solidFill>
          <a:ln xmlns:a="http://schemas.openxmlformats.org/drawingml/2006/main" w="0">
            <a:noFill/>
            <a:prstDash val="solid"/>
          </a:ln>
        </p:spPr>
      </p:sp>
      <p:sp>
        <p:nvSpPr>
          <p:cNvPr id="4" name="s2-arrow-1">
            <a:extLst xmlns:a="http://schemas.openxmlformats.org/drawingml/2006/main">
              <a:ext uri="{FF2B5EF4-FFF2-40B4-BE49-F238E27FC236}">
                <a16:creationId xmlns:a16="http://schemas.microsoft.com/office/drawing/2014/main" id="{2C9B2D74-371D-4E9C-A648-B85E8E8AFB3E}"/>
              </a:ext>
            </a:extLst>
          </p:cNvPr>
          <p:cNvSpPr>
            <a:spLocks xmlns:a="http://schemas.openxmlformats.org/drawingml/2006/main" noGrp="1"/>
          </p:cNvSpPr>
          <p:nvPr/>
        </p:nvSpPr>
        <p:spPr>
          <a:xfrm xmlns:a="http://schemas.openxmlformats.org/drawingml/2006/main">
            <a:off x="5600700" y="3333750"/>
            <a:ext cx="876300" cy="361950"/>
          </a:xfrm>
          <a:prstGeom xmlns:a="http://schemas.openxmlformats.org/drawingml/2006/main" prst="rightArrow">
            <a:avLst/>
          </a:prstGeom>
          <a:solidFill xmlns:a="http://schemas.openxmlformats.org/drawingml/2006/main">
            <a:srgbClr val="1746D1"/>
          </a:solidFill>
          <a:ln xmlns:a="http://schemas.openxmlformats.org/drawingml/2006/main" w="0">
            <a:noFill/>
            <a:prstDash val="solid"/>
          </a:ln>
        </p:spPr>
      </p:sp>
      <p:sp>
        <p:nvSpPr>
          <p:cNvPr id="5" name="s2-arrow-2">
            <a:extLst xmlns:a="http://schemas.openxmlformats.org/drawingml/2006/main">
              <a:ext uri="{FF2B5EF4-FFF2-40B4-BE49-F238E27FC236}">
                <a16:creationId xmlns:a16="http://schemas.microsoft.com/office/drawing/2014/main" id="{53A108B4-55DA-41F1-AA22-77A152E3D368}"/>
              </a:ext>
            </a:extLst>
          </p:cNvPr>
          <p:cNvSpPr>
            <a:spLocks xmlns:a="http://schemas.openxmlformats.org/drawingml/2006/main" noGrp="1"/>
          </p:cNvSpPr>
          <p:nvPr/>
        </p:nvSpPr>
        <p:spPr>
          <a:xfrm xmlns:a="http://schemas.openxmlformats.org/drawingml/2006/main">
            <a:off x="8420100" y="3333750"/>
            <a:ext cx="876300" cy="361950"/>
          </a:xfrm>
          <a:prstGeom xmlns:a="http://schemas.openxmlformats.org/drawingml/2006/main" prst="rightArrow">
            <a:avLst/>
          </a:prstGeom>
          <a:solidFill xmlns:a="http://schemas.openxmlformats.org/drawingml/2006/main">
            <a:srgbClr val="1746D1"/>
          </a:solidFill>
          <a:ln xmlns:a="http://schemas.openxmlformats.org/drawingml/2006/main" w="0">
            <a:noFill/>
            <a:prstDash val="solid"/>
          </a:ln>
        </p:spPr>
      </p:sp>
      <p:sp>
        <p:nvSpPr>
          <p:cNvPr id="6" name="s2-node-0">
            <a:extLst xmlns:a="http://schemas.openxmlformats.org/drawingml/2006/main">
              <a:ext uri="{FF2B5EF4-FFF2-40B4-BE49-F238E27FC236}">
                <a16:creationId xmlns:a16="http://schemas.microsoft.com/office/drawing/2014/main" id="{1B6B9908-479B-4B2E-9B27-5985401349C7}"/>
              </a:ext>
            </a:extLst>
          </p:cNvPr>
          <p:cNvSpPr>
            <a:spLocks xmlns:a="http://schemas.openxmlformats.org/drawingml/2006/main" noGrp="1"/>
          </p:cNvSpPr>
          <p:nvPr/>
        </p:nvSpPr>
        <p:spPr>
          <a:xfrm xmlns:a="http://schemas.openxmlformats.org/drawingml/2006/main">
            <a:off x="533400" y="2247900"/>
            <a:ext cx="2171700" cy="2724150"/>
          </a:xfrm>
          <a:prstGeom xmlns:a="http://schemas.openxmlformats.org/drawingml/2006/main" prst="roundRect">
            <a:avLst>
              <a:gd name="adj" fmla="val 7895"/>
            </a:avLst>
          </a:prstGeom>
          <a:solidFill xmlns:a="http://schemas.openxmlformats.org/drawingml/2006/main">
            <a:srgbClr val="FAF7E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7" name="s2-node-num-0">
            <a:extLst xmlns:a="http://schemas.openxmlformats.org/drawingml/2006/main">
              <a:ext uri="{FF2B5EF4-FFF2-40B4-BE49-F238E27FC236}">
                <a16:creationId xmlns:a16="http://schemas.microsoft.com/office/drawing/2014/main" id="{11A26850-14E9-404C-B0AE-3F94FB2634A2}"/>
              </a:ext>
            </a:extLst>
          </p:cNvPr>
          <p:cNvSpPr>
            <a:spLocks xmlns:a="http://schemas.openxmlformats.org/drawingml/2006/main" noGrp="1"/>
          </p:cNvSpPr>
          <p:nvPr/>
        </p:nvSpPr>
        <p:spPr>
          <a:xfrm xmlns:a="http://schemas.openxmlformats.org/drawingml/2006/main">
            <a:off x="742950" y="24574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1746D1"/>
                </a:solidFill>
                <a:latin typeface="Avenir Next Condensed"/>
                <a:ea typeface="Avenir Next Condensed"/>
                <a:cs typeface="Avenir Next Condensed"/>
              </a:defRPr>
            </a:pPr>
            <a:r>
              <a:rPr sz="1650" b="1">
                <a:solidFill>
                  <a:srgbClr val="1746D1"/>
                </a:solidFill>
                <a:latin typeface="Avenir Next Condensed"/>
                <a:ea typeface="Avenir Next Condensed"/>
                <a:cs typeface="Avenir Next Condensed"/>
              </a:rPr>
              <a:t>1</a:t>
            </a:r>
          </a:p>
        </p:txBody>
      </p:sp>
      <p:sp>
        <p:nvSpPr>
          <p:cNvPr id="8" name="s2-node-title-0">
            <a:extLst xmlns:a="http://schemas.openxmlformats.org/drawingml/2006/main">
              <a:ext uri="{FF2B5EF4-FFF2-40B4-BE49-F238E27FC236}">
                <a16:creationId xmlns:a16="http://schemas.microsoft.com/office/drawing/2014/main" id="{8661D505-C481-43F4-965D-CD0A873AFB69}"/>
              </a:ext>
            </a:extLst>
          </p:cNvPr>
          <p:cNvSpPr>
            <a:spLocks xmlns:a="http://schemas.openxmlformats.org/drawingml/2006/main" noGrp="1"/>
          </p:cNvSpPr>
          <p:nvPr/>
        </p:nvSpPr>
        <p:spPr>
          <a:xfrm xmlns:a="http://schemas.openxmlformats.org/drawingml/2006/main">
            <a:off x="742950" y="2990850"/>
            <a:ext cx="1752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250" b="1">
                <a:solidFill>
                  <a:srgbClr val="1746D1"/>
                </a:solidFill>
                <a:latin typeface="Avenir Next Condensed"/>
                <a:ea typeface="Avenir Next Condensed"/>
                <a:cs typeface="Avenir Next Condensed"/>
              </a:defRPr>
            </a:pPr>
            <a:r>
              <a:rPr sz="2250" b="1">
                <a:solidFill>
                  <a:srgbClr val="1746D1"/>
                </a:solidFill>
                <a:latin typeface="Avenir Next Condensed"/>
                <a:ea typeface="Avenir Next Condensed"/>
                <a:cs typeface="Avenir Next Condensed"/>
              </a:rPr>
              <a:t>YOU SAY IT</a:t>
            </a:r>
          </a:p>
        </p:txBody>
      </p:sp>
      <p:sp>
        <p:nvSpPr>
          <p:cNvPr id="9" name="s2-node-body-0">
            <a:extLst xmlns:a="http://schemas.openxmlformats.org/drawingml/2006/main">
              <a:ext uri="{FF2B5EF4-FFF2-40B4-BE49-F238E27FC236}">
                <a16:creationId xmlns:a16="http://schemas.microsoft.com/office/drawing/2014/main" id="{04BE6147-AA78-4C50-861C-FA3763244DFE}"/>
              </a:ext>
            </a:extLst>
          </p:cNvPr>
          <p:cNvSpPr>
            <a:spLocks xmlns:a="http://schemas.openxmlformats.org/drawingml/2006/main" noGrp="1"/>
          </p:cNvSpPr>
          <p:nvPr/>
        </p:nvSpPr>
        <p:spPr>
          <a:xfrm xmlns:a="http://schemas.openxmlformats.org/drawingml/2006/main">
            <a:off x="742950" y="3924300"/>
            <a:ext cx="1752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1746D1"/>
                </a:solidFill>
                <a:latin typeface="Avenir Next"/>
                <a:ea typeface="Avenir Next"/>
                <a:cs typeface="Avenir Next"/>
              </a:defRPr>
            </a:pPr>
            <a:r>
              <a:rPr sz="1575" b="0">
                <a:solidFill>
                  <a:srgbClr val="1746D1"/>
                </a:solidFill>
                <a:latin typeface="Avenir Next"/>
                <a:ea typeface="Avenir Next"/>
                <a:cs typeface="Avenir Next"/>
              </a:rPr>
              <a:t>Normal work</a:t>
            </a:r>
          </a:p>
          <a:p xmlns:a="http://schemas.openxmlformats.org/drawingml/2006/main">
            <a:pPr algn="l">
              <a:buNone/>
              <a:defRPr sz="1575" b="0">
                <a:solidFill>
                  <a:srgbClr val="1746D1"/>
                </a:solidFill>
                <a:latin typeface="Avenir Next"/>
                <a:ea typeface="Avenir Next"/>
                <a:cs typeface="Avenir Next"/>
              </a:defRPr>
            </a:pPr>
            <a:r>
              <a:rPr sz="1575" b="0">
                <a:solidFill>
                  <a:srgbClr val="1746D1"/>
                </a:solidFill>
                <a:latin typeface="Avenir Next"/>
                <a:ea typeface="Avenir Next"/>
                <a:cs typeface="Avenir Next"/>
              </a:rPr>
              <a:t>and conversation</a:t>
            </a:r>
          </a:p>
        </p:txBody>
      </p:sp>
      <p:sp>
        <p:nvSpPr>
          <p:cNvPr id="10" name="s2-node-1">
            <a:extLst xmlns:a="http://schemas.openxmlformats.org/drawingml/2006/main">
              <a:ext uri="{FF2B5EF4-FFF2-40B4-BE49-F238E27FC236}">
                <a16:creationId xmlns:a16="http://schemas.microsoft.com/office/drawing/2014/main" id="{0FF20F53-B5FA-4235-82A7-EDF50230A8CC}"/>
              </a:ext>
            </a:extLst>
          </p:cNvPr>
          <p:cNvSpPr>
            <a:spLocks xmlns:a="http://schemas.openxmlformats.org/drawingml/2006/main" noGrp="1"/>
          </p:cNvSpPr>
          <p:nvPr/>
        </p:nvSpPr>
        <p:spPr>
          <a:xfrm xmlns:a="http://schemas.openxmlformats.org/drawingml/2006/main">
            <a:off x="3352800" y="2247900"/>
            <a:ext cx="2171700" cy="2724150"/>
          </a:xfrm>
          <a:prstGeom xmlns:a="http://schemas.openxmlformats.org/drawingml/2006/main" prst="roundRect">
            <a:avLst>
              <a:gd name="adj" fmla="val 7895"/>
            </a:avLst>
          </a:prstGeom>
          <a:solidFill xmlns:a="http://schemas.openxmlformats.org/drawingml/2006/main">
            <a:srgbClr val="F4D77A"/>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11" name="s2-node-num-1">
            <a:extLst xmlns:a="http://schemas.openxmlformats.org/drawingml/2006/main">
              <a:ext uri="{FF2B5EF4-FFF2-40B4-BE49-F238E27FC236}">
                <a16:creationId xmlns:a16="http://schemas.microsoft.com/office/drawing/2014/main" id="{64C1CC33-E1EE-4F5E-AE03-AFD95AC32790}"/>
              </a:ext>
            </a:extLst>
          </p:cNvPr>
          <p:cNvSpPr>
            <a:spLocks xmlns:a="http://schemas.openxmlformats.org/drawingml/2006/main" noGrp="1"/>
          </p:cNvSpPr>
          <p:nvPr/>
        </p:nvSpPr>
        <p:spPr>
          <a:xfrm xmlns:a="http://schemas.openxmlformats.org/drawingml/2006/main">
            <a:off x="3562350" y="24574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293331"/>
                </a:solidFill>
                <a:latin typeface="Avenir Next Condensed"/>
                <a:ea typeface="Avenir Next Condensed"/>
                <a:cs typeface="Avenir Next Condensed"/>
              </a:defRPr>
            </a:pPr>
            <a:r>
              <a:rPr sz="1650" b="1">
                <a:solidFill>
                  <a:srgbClr val="293331"/>
                </a:solidFill>
                <a:latin typeface="Avenir Next Condensed"/>
                <a:ea typeface="Avenir Next Condensed"/>
                <a:cs typeface="Avenir Next Condensed"/>
              </a:rPr>
              <a:t>2</a:t>
            </a:r>
          </a:p>
        </p:txBody>
      </p:sp>
      <p:sp>
        <p:nvSpPr>
          <p:cNvPr id="12" name="s2-node-title-1">
            <a:extLst xmlns:a="http://schemas.openxmlformats.org/drawingml/2006/main">
              <a:ext uri="{FF2B5EF4-FFF2-40B4-BE49-F238E27FC236}">
                <a16:creationId xmlns:a16="http://schemas.microsoft.com/office/drawing/2014/main" id="{28A2EF66-26CD-46D5-B39E-83BE7C46BE50}"/>
              </a:ext>
            </a:extLst>
          </p:cNvPr>
          <p:cNvSpPr>
            <a:spLocks xmlns:a="http://schemas.openxmlformats.org/drawingml/2006/main" noGrp="1"/>
          </p:cNvSpPr>
          <p:nvPr/>
        </p:nvSpPr>
        <p:spPr>
          <a:xfrm xmlns:a="http://schemas.openxmlformats.org/drawingml/2006/main">
            <a:off x="3562350" y="2990850"/>
            <a:ext cx="1752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250" b="1">
                <a:solidFill>
                  <a:srgbClr val="293331"/>
                </a:solidFill>
                <a:latin typeface="Avenir Next Condensed"/>
                <a:ea typeface="Avenir Next Condensed"/>
                <a:cs typeface="Avenir Next Condensed"/>
              </a:defRPr>
            </a:pPr>
            <a:r>
              <a:rPr sz="2250" b="1">
                <a:solidFill>
                  <a:srgbClr val="293331"/>
                </a:solidFill>
                <a:latin typeface="Avenir Next Condensed"/>
                <a:ea typeface="Avenir Next Condensed"/>
                <a:cs typeface="Avenir Next Condensed"/>
              </a:rPr>
              <a:t>WE SUGGEST</a:t>
            </a:r>
          </a:p>
        </p:txBody>
      </p:sp>
      <p:sp>
        <p:nvSpPr>
          <p:cNvPr id="13" name="s2-node-body-1">
            <a:extLst xmlns:a="http://schemas.openxmlformats.org/drawingml/2006/main">
              <a:ext uri="{FF2B5EF4-FFF2-40B4-BE49-F238E27FC236}">
                <a16:creationId xmlns:a16="http://schemas.microsoft.com/office/drawing/2014/main" id="{FD89B79A-E801-40A2-86A4-24E1A87CA2EC}"/>
              </a:ext>
            </a:extLst>
          </p:cNvPr>
          <p:cNvSpPr>
            <a:spLocks xmlns:a="http://schemas.openxmlformats.org/drawingml/2006/main" noGrp="1"/>
          </p:cNvSpPr>
          <p:nvPr/>
        </p:nvSpPr>
        <p:spPr>
          <a:xfrm xmlns:a="http://schemas.openxmlformats.org/drawingml/2006/main">
            <a:off x="3562350" y="3924300"/>
            <a:ext cx="1752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293331"/>
                </a:solidFill>
                <a:latin typeface="Avenir Next"/>
                <a:ea typeface="Avenir Next"/>
                <a:cs typeface="Avenir Next"/>
              </a:defRPr>
            </a:pPr>
            <a:r>
              <a:rPr sz="1575" b="0">
                <a:solidFill>
                  <a:srgbClr val="293331"/>
                </a:solidFill>
                <a:latin typeface="Avenir Next"/>
                <a:ea typeface="Avenir Next"/>
                <a:cs typeface="Avenir Next"/>
              </a:rPr>
              <a:t>Statement · why</a:t>
            </a:r>
          </a:p>
          <a:p xmlns:a="http://schemas.openxmlformats.org/drawingml/2006/main">
            <a:pPr algn="l">
              <a:buNone/>
              <a:defRPr sz="1575" b="0">
                <a:solidFill>
                  <a:srgbClr val="293331"/>
                </a:solidFill>
                <a:latin typeface="Avenir Next"/>
                <a:ea typeface="Avenir Next"/>
                <a:cs typeface="Avenir Next"/>
              </a:defRPr>
            </a:pPr>
            <a:r>
              <a:rPr sz="1575" b="0">
                <a:solidFill>
                  <a:srgbClr val="293331"/>
                </a:solidFill>
                <a:latin typeface="Avenir Next"/>
                <a:ea typeface="Avenir Next"/>
                <a:cs typeface="Avenir Next"/>
              </a:rPr>
              <a:t>source · roles</a:t>
            </a:r>
          </a:p>
        </p:txBody>
      </p:sp>
      <p:sp>
        <p:nvSpPr>
          <p:cNvPr id="14" name="s2-node-2">
            <a:extLst xmlns:a="http://schemas.openxmlformats.org/drawingml/2006/main">
              <a:ext uri="{FF2B5EF4-FFF2-40B4-BE49-F238E27FC236}">
                <a16:creationId xmlns:a16="http://schemas.microsoft.com/office/drawing/2014/main" id="{C9EF4C9A-452B-4D4D-9435-D1F61637B179}"/>
              </a:ext>
            </a:extLst>
          </p:cNvPr>
          <p:cNvSpPr>
            <a:spLocks xmlns:a="http://schemas.openxmlformats.org/drawingml/2006/main" noGrp="1"/>
          </p:cNvSpPr>
          <p:nvPr/>
        </p:nvSpPr>
        <p:spPr>
          <a:xfrm xmlns:a="http://schemas.openxmlformats.org/drawingml/2006/main">
            <a:off x="6172200" y="2247900"/>
            <a:ext cx="2171700" cy="2724150"/>
          </a:xfrm>
          <a:prstGeom xmlns:a="http://schemas.openxmlformats.org/drawingml/2006/main" prst="roundRect">
            <a:avLst>
              <a:gd name="adj" fmla="val 7895"/>
            </a:avLst>
          </a:prstGeom>
          <a:solidFill xmlns:a="http://schemas.openxmlformats.org/drawingml/2006/main">
            <a:srgbClr val="ED654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15" name="s2-node-num-2">
            <a:extLst xmlns:a="http://schemas.openxmlformats.org/drawingml/2006/main">
              <a:ext uri="{FF2B5EF4-FFF2-40B4-BE49-F238E27FC236}">
                <a16:creationId xmlns:a16="http://schemas.microsoft.com/office/drawing/2014/main" id="{79B211A0-931C-451F-9C9F-57A5A26C3066}"/>
              </a:ext>
            </a:extLst>
          </p:cNvPr>
          <p:cNvSpPr>
            <a:spLocks xmlns:a="http://schemas.openxmlformats.org/drawingml/2006/main" noGrp="1"/>
          </p:cNvSpPr>
          <p:nvPr/>
        </p:nvSpPr>
        <p:spPr>
          <a:xfrm xmlns:a="http://schemas.openxmlformats.org/drawingml/2006/main">
            <a:off x="6381750" y="24574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FAF7EF"/>
                </a:solidFill>
                <a:latin typeface="Avenir Next Condensed"/>
                <a:ea typeface="Avenir Next Condensed"/>
                <a:cs typeface="Avenir Next Condensed"/>
              </a:defRPr>
            </a:pPr>
            <a:r>
              <a:rPr sz="1650" b="1">
                <a:solidFill>
                  <a:srgbClr val="FAF7EF"/>
                </a:solidFill>
                <a:latin typeface="Avenir Next Condensed"/>
                <a:ea typeface="Avenir Next Condensed"/>
                <a:cs typeface="Avenir Next Condensed"/>
              </a:rPr>
              <a:t>3</a:t>
            </a:r>
          </a:p>
        </p:txBody>
      </p:sp>
      <p:sp>
        <p:nvSpPr>
          <p:cNvPr id="16" name="s2-node-title-2">
            <a:extLst xmlns:a="http://schemas.openxmlformats.org/drawingml/2006/main">
              <a:ext uri="{FF2B5EF4-FFF2-40B4-BE49-F238E27FC236}">
                <a16:creationId xmlns:a16="http://schemas.microsoft.com/office/drawing/2014/main" id="{65C2BA25-A3F8-4EA7-8233-FCADAEB59627}"/>
              </a:ext>
            </a:extLst>
          </p:cNvPr>
          <p:cNvSpPr>
            <a:spLocks xmlns:a="http://schemas.openxmlformats.org/drawingml/2006/main" noGrp="1"/>
          </p:cNvSpPr>
          <p:nvPr/>
        </p:nvSpPr>
        <p:spPr>
          <a:xfrm xmlns:a="http://schemas.openxmlformats.org/drawingml/2006/main">
            <a:off x="6381750" y="2990850"/>
            <a:ext cx="1752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250" b="1">
                <a:solidFill>
                  <a:srgbClr val="FAF7EF"/>
                </a:solidFill>
                <a:latin typeface="Avenir Next Condensed"/>
                <a:ea typeface="Avenir Next Condensed"/>
                <a:cs typeface="Avenir Next Condensed"/>
              </a:defRPr>
            </a:pPr>
            <a:r>
              <a:rPr sz="2250" b="1">
                <a:solidFill>
                  <a:srgbClr val="FAF7EF"/>
                </a:solidFill>
                <a:latin typeface="Avenir Next Condensed"/>
                <a:ea typeface="Avenir Next Condensed"/>
                <a:cs typeface="Avenir Next Condensed"/>
              </a:rPr>
              <a:t>YOU APPROVE</a:t>
            </a:r>
          </a:p>
        </p:txBody>
      </p:sp>
      <p:sp>
        <p:nvSpPr>
          <p:cNvPr id="17" name="s2-node-body-2">
            <a:extLst xmlns:a="http://schemas.openxmlformats.org/drawingml/2006/main">
              <a:ext uri="{FF2B5EF4-FFF2-40B4-BE49-F238E27FC236}">
                <a16:creationId xmlns:a16="http://schemas.microsoft.com/office/drawing/2014/main" id="{E258BF80-C99B-453E-9925-82705489628B}"/>
              </a:ext>
            </a:extLst>
          </p:cNvPr>
          <p:cNvSpPr>
            <a:spLocks xmlns:a="http://schemas.openxmlformats.org/drawingml/2006/main" noGrp="1"/>
          </p:cNvSpPr>
          <p:nvPr/>
        </p:nvSpPr>
        <p:spPr>
          <a:xfrm xmlns:a="http://schemas.openxmlformats.org/drawingml/2006/main">
            <a:off x="6381750" y="3924300"/>
            <a:ext cx="1752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FAF7EF"/>
                </a:solidFill>
                <a:latin typeface="Avenir Next"/>
                <a:ea typeface="Avenir Next"/>
                <a:cs typeface="Avenir Next"/>
              </a:defRPr>
            </a:pPr>
            <a:r>
              <a:rPr sz="1575" b="0">
                <a:solidFill>
                  <a:srgbClr val="FAF7EF"/>
                </a:solidFill>
                <a:latin typeface="Avenir Next"/>
                <a:ea typeface="Avenir Next"/>
                <a:cs typeface="Avenir Next"/>
              </a:rPr>
              <a:t>Human decision</a:t>
            </a:r>
          </a:p>
          <a:p xmlns:a="http://schemas.openxmlformats.org/drawingml/2006/main">
            <a:pPr algn="l">
              <a:buNone/>
              <a:defRPr sz="1575" b="0">
                <a:solidFill>
                  <a:srgbClr val="FAF7EF"/>
                </a:solidFill>
                <a:latin typeface="Avenir Next"/>
                <a:ea typeface="Avenir Next"/>
                <a:cs typeface="Avenir Next"/>
              </a:defRPr>
            </a:pPr>
            <a:r>
              <a:rPr sz="1575" b="0">
                <a:solidFill>
                  <a:srgbClr val="FAF7EF"/>
                </a:solidFill>
                <a:latin typeface="Avenir Next"/>
                <a:ea typeface="Avenir Next"/>
                <a:cs typeface="Avenir Next"/>
              </a:rPr>
              <a:t>never automatic</a:t>
            </a:r>
          </a:p>
        </p:txBody>
      </p:sp>
      <p:sp>
        <p:nvSpPr>
          <p:cNvPr id="18" name="s2-node-3">
            <a:extLst xmlns:a="http://schemas.openxmlformats.org/drawingml/2006/main">
              <a:ext uri="{FF2B5EF4-FFF2-40B4-BE49-F238E27FC236}">
                <a16:creationId xmlns:a16="http://schemas.microsoft.com/office/drawing/2014/main" id="{477722EC-C29B-428C-BDBA-F49F416446A2}"/>
              </a:ext>
            </a:extLst>
          </p:cNvPr>
          <p:cNvSpPr>
            <a:spLocks xmlns:a="http://schemas.openxmlformats.org/drawingml/2006/main" noGrp="1"/>
          </p:cNvSpPr>
          <p:nvPr/>
        </p:nvSpPr>
        <p:spPr>
          <a:xfrm xmlns:a="http://schemas.openxmlformats.org/drawingml/2006/main">
            <a:off x="8991600" y="2247900"/>
            <a:ext cx="2667000" cy="2724150"/>
          </a:xfrm>
          <a:prstGeom xmlns:a="http://schemas.openxmlformats.org/drawingml/2006/main" prst="roundRect">
            <a:avLst>
              <a:gd name="adj" fmla="val 6429"/>
            </a:avLst>
          </a:prstGeom>
          <a:solidFill xmlns:a="http://schemas.openxmlformats.org/drawingml/2006/main">
            <a:srgbClr val="FAF7E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19" name="s2-node-num-3">
            <a:extLst xmlns:a="http://schemas.openxmlformats.org/drawingml/2006/main">
              <a:ext uri="{FF2B5EF4-FFF2-40B4-BE49-F238E27FC236}">
                <a16:creationId xmlns:a16="http://schemas.microsoft.com/office/drawing/2014/main" id="{42CE3D1B-2B62-4016-AD46-7E4E73F331BF}"/>
              </a:ext>
            </a:extLst>
          </p:cNvPr>
          <p:cNvSpPr>
            <a:spLocks xmlns:a="http://schemas.openxmlformats.org/drawingml/2006/main" noGrp="1"/>
          </p:cNvSpPr>
          <p:nvPr/>
        </p:nvSpPr>
        <p:spPr>
          <a:xfrm xmlns:a="http://schemas.openxmlformats.org/drawingml/2006/main">
            <a:off x="9201150" y="24574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1746D1"/>
                </a:solidFill>
                <a:latin typeface="Avenir Next Condensed"/>
                <a:ea typeface="Avenir Next Condensed"/>
                <a:cs typeface="Avenir Next Condensed"/>
              </a:defRPr>
            </a:pPr>
            <a:r>
              <a:rPr sz="1650" b="1">
                <a:solidFill>
                  <a:srgbClr val="1746D1"/>
                </a:solidFill>
                <a:latin typeface="Avenir Next Condensed"/>
                <a:ea typeface="Avenir Next Condensed"/>
                <a:cs typeface="Avenir Next Condensed"/>
              </a:rPr>
              <a:t>4</a:t>
            </a:r>
          </a:p>
        </p:txBody>
      </p:sp>
      <p:sp>
        <p:nvSpPr>
          <p:cNvPr id="20" name="s2-node-title-3">
            <a:extLst xmlns:a="http://schemas.openxmlformats.org/drawingml/2006/main">
              <a:ext uri="{FF2B5EF4-FFF2-40B4-BE49-F238E27FC236}">
                <a16:creationId xmlns:a16="http://schemas.microsoft.com/office/drawing/2014/main" id="{59D284CA-46D7-466F-BDF7-AF23ADE85F93}"/>
              </a:ext>
            </a:extLst>
          </p:cNvPr>
          <p:cNvSpPr>
            <a:spLocks xmlns:a="http://schemas.openxmlformats.org/drawingml/2006/main" noGrp="1"/>
          </p:cNvSpPr>
          <p:nvPr/>
        </p:nvSpPr>
        <p:spPr>
          <a:xfrm xmlns:a="http://schemas.openxmlformats.org/drawingml/2006/main">
            <a:off x="9201150" y="2990850"/>
            <a:ext cx="2247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025" b="1">
                <a:solidFill>
                  <a:srgbClr val="1746D1"/>
                </a:solidFill>
                <a:latin typeface="Avenir Next Condensed"/>
                <a:ea typeface="Avenir Next Condensed"/>
                <a:cs typeface="Avenir Next Condensed"/>
              </a:defRPr>
            </a:pPr>
            <a:r>
              <a:rPr sz="2025" b="1">
                <a:solidFill>
                  <a:srgbClr val="1746D1"/>
                </a:solidFill>
                <a:latin typeface="Avenir Next Condensed"/>
                <a:ea typeface="Avenir Next Condensed"/>
                <a:cs typeface="Avenir Next Condensed"/>
              </a:rPr>
              <a:t>THE COMPANY REMEMBERS</a:t>
            </a:r>
          </a:p>
        </p:txBody>
      </p:sp>
      <p:sp>
        <p:nvSpPr>
          <p:cNvPr id="21" name="s2-node-body-3">
            <a:extLst xmlns:a="http://schemas.openxmlformats.org/drawingml/2006/main">
              <a:ext uri="{FF2B5EF4-FFF2-40B4-BE49-F238E27FC236}">
                <a16:creationId xmlns:a16="http://schemas.microsoft.com/office/drawing/2014/main" id="{5814210A-8F2C-4FD3-84ED-C822B911583B}"/>
              </a:ext>
            </a:extLst>
          </p:cNvPr>
          <p:cNvSpPr>
            <a:spLocks xmlns:a="http://schemas.openxmlformats.org/drawingml/2006/main" noGrp="1"/>
          </p:cNvSpPr>
          <p:nvPr/>
        </p:nvSpPr>
        <p:spPr>
          <a:xfrm xmlns:a="http://schemas.openxmlformats.org/drawingml/2006/main">
            <a:off x="9201150" y="3924300"/>
            <a:ext cx="2247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1746D1"/>
                </a:solidFill>
                <a:latin typeface="Avenir Next"/>
                <a:ea typeface="Avenir Next"/>
                <a:cs typeface="Avenir Next"/>
              </a:defRPr>
            </a:pPr>
            <a:r>
              <a:rPr sz="1575" b="0">
                <a:solidFill>
                  <a:srgbClr val="1746D1"/>
                </a:solidFill>
                <a:latin typeface="Avenir Next"/>
                <a:ea typeface="Avenir Next"/>
                <a:cs typeface="Avenir Next"/>
              </a:rPr>
              <a:t>Marketing · Operations</a:t>
            </a:r>
          </a:p>
          <a:p xmlns:a="http://schemas.openxmlformats.org/drawingml/2006/main">
            <a:pPr algn="l">
              <a:buNone/>
              <a:defRPr sz="1575" b="0">
                <a:solidFill>
                  <a:srgbClr val="1746D1"/>
                </a:solidFill>
                <a:latin typeface="Avenir Next"/>
                <a:ea typeface="Avenir Next"/>
                <a:cs typeface="Avenir Next"/>
              </a:defRPr>
            </a:pPr>
            <a:r>
              <a:rPr sz="1575" b="0">
                <a:solidFill>
                  <a:srgbClr val="1746D1"/>
                </a:solidFill>
                <a:latin typeface="Avenir Next"/>
                <a:ea typeface="Avenir Next"/>
                <a:cs typeface="Avenir Next"/>
              </a:rPr>
              <a:t>Employees</a:t>
            </a:r>
          </a:p>
        </p:txBody>
      </p:sp>
      <p:sp>
        <p:nvSpPr>
          <p:cNvPr id="22" name="s2-check">
            <a:extLst xmlns:a="http://schemas.openxmlformats.org/drawingml/2006/main">
              <a:ext uri="{FF2B5EF4-FFF2-40B4-BE49-F238E27FC236}">
                <a16:creationId xmlns:a16="http://schemas.microsoft.com/office/drawing/2014/main" id="{3A63E49D-2FEF-4478-9A86-1A2A71B2649B}"/>
              </a:ext>
            </a:extLst>
          </p:cNvPr>
          <p:cNvSpPr>
            <a:spLocks xmlns:a="http://schemas.openxmlformats.org/drawingml/2006/main" noGrp="1"/>
          </p:cNvSpPr>
          <p:nvPr/>
        </p:nvSpPr>
        <p:spPr>
          <a:xfrm xmlns:a="http://schemas.openxmlformats.org/drawingml/2006/main">
            <a:off x="7505700" y="4114800"/>
            <a:ext cx="628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3750" b="1">
                <a:solidFill>
                  <a:srgbClr val="FAF7EF"/>
                </a:solidFill>
                <a:latin typeface="Avenir Next"/>
                <a:ea typeface="Avenir Next"/>
                <a:cs typeface="Avenir Next"/>
              </a:defRPr>
            </a:pPr>
            <a:r>
              <a:rPr sz="3750" b="1">
                <a:solidFill>
                  <a:srgbClr val="FAF7EF"/>
                </a:solidFill>
                <a:latin typeface="Avenir Next"/>
                <a:ea typeface="Avenir Next"/>
                <a:cs typeface="Avenir Next"/>
              </a:rPr>
              <a:t>✓</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d841223c492149c8"/>
          <a:stretch xmlns:a="http://schemas.openxmlformats.org/drawingml/2006/main"/>
        </p:blipFill>
        <p:spPr>
          <a:xfrm xmlns:a="http://schemas.openxmlformats.org/drawingml/2006/main">
            <a:off x="10306050" y="3886200"/>
            <a:ext cx="990600" cy="990600"/>
          </a:xfrm>
          <a:prstGeom xmlns:a="http://schemas.openxmlformats.org/drawingml/2006/main" prst="roundRect">
            <a:avLst>
              <a:gd name="adj" fmla="val 19231"/>
            </a:avLst>
          </a:prstGeom>
        </p:spPr>
      </p:pic>
      <p:sp>
        <p:nvSpPr>
          <p:cNvPr id="24" name="s2-result">
            <a:extLst xmlns:a="http://schemas.openxmlformats.org/drawingml/2006/main">
              <a:ext uri="{FF2B5EF4-FFF2-40B4-BE49-F238E27FC236}">
                <a16:creationId xmlns:a16="http://schemas.microsoft.com/office/drawing/2014/main" id="{D0A3C9E0-9685-4A23-ACBE-0601785E14A0}"/>
              </a:ext>
            </a:extLst>
          </p:cNvPr>
          <p:cNvSpPr>
            <a:spLocks xmlns:a="http://schemas.openxmlformats.org/drawingml/2006/main" noGrp="1"/>
          </p:cNvSpPr>
          <p:nvPr/>
        </p:nvSpPr>
        <p:spPr>
          <a:xfrm xmlns:a="http://schemas.openxmlformats.org/drawingml/2006/main">
            <a:off x="1371600" y="5524500"/>
            <a:ext cx="9448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100" b="1">
                <a:solidFill>
                  <a:srgbClr val="FAF7EF"/>
                </a:solidFill>
                <a:latin typeface="Avenir Next"/>
                <a:ea typeface="Avenir Next"/>
                <a:cs typeface="Avenir Next"/>
              </a:defRPr>
            </a:pPr>
            <a:r>
              <a:rPr sz="2100" b="1">
                <a:solidFill>
                  <a:srgbClr val="FAF7EF"/>
                </a:solidFill>
                <a:latin typeface="Avenir Next"/>
                <a:ea typeface="Avenir Next"/>
                <a:cs typeface="Avenir Next"/>
              </a:rPr>
              <a:t>One conversation. One approval. Consistent action everywhere.</a:t>
            </a:r>
          </a:p>
        </p:txBody>
      </p:sp>
      <p:sp>
        <p:nvSpPr>
          <p:cNvPr id="25" name="footer-brand-2">
            <a:extLst xmlns:a="http://schemas.openxmlformats.org/drawingml/2006/main">
              <a:ext uri="{FF2B5EF4-FFF2-40B4-BE49-F238E27FC236}">
                <a16:creationId xmlns:a16="http://schemas.microsoft.com/office/drawing/2014/main" id="{0790C88D-0B18-41B0-832E-32997C7977AC}"/>
              </a:ext>
            </a:extLst>
          </p:cNvPr>
          <p:cNvSpPr>
            <a:spLocks xmlns:a="http://schemas.openxmlformats.org/drawingml/2006/main" noGrp="1"/>
          </p:cNvSpPr>
          <p:nvPr/>
        </p:nvSpPr>
        <p:spPr>
          <a:xfrm xmlns:a="http://schemas.openxmlformats.org/drawingml/2006/main">
            <a:off x="895350" y="64008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FAF7EF"/>
                </a:solidFill>
                <a:latin typeface="Avenir Next Condensed"/>
                <a:ea typeface="Avenir Next Condensed"/>
                <a:cs typeface="Avenir Next Condensed"/>
              </a:defRPr>
            </a:pPr>
            <a:r>
              <a:rPr sz="1200" b="1">
                <a:solidFill>
                  <a:srgbClr val="FAF7EF"/>
                </a:solidFill>
                <a:latin typeface="Avenir Next Condensed"/>
                <a:ea typeface="Avenir Next Condensed"/>
                <a:cs typeface="Avenir Next Condensed"/>
              </a:rPr>
              <a:t>MY LITTLE COMPANY</a:t>
            </a:r>
          </a:p>
        </p:txBody>
      </p:sp>
      <p:sp>
        <p:nvSpPr>
          <p:cNvPr id="26" name="footer-number-2">
            <a:extLst xmlns:a="http://schemas.openxmlformats.org/drawingml/2006/main">
              <a:ext uri="{FF2B5EF4-FFF2-40B4-BE49-F238E27FC236}">
                <a16:creationId xmlns:a16="http://schemas.microsoft.com/office/drawing/2014/main" id="{51367008-8489-4540-8C2E-36A705B8C272}"/>
              </a:ext>
            </a:extLst>
          </p:cNvPr>
          <p:cNvSpPr>
            <a:spLocks xmlns:a="http://schemas.openxmlformats.org/drawingml/2006/main" noGrp="1"/>
          </p:cNvSpPr>
          <p:nvPr/>
        </p:nvSpPr>
        <p:spPr>
          <a:xfrm xmlns:a="http://schemas.openxmlformats.org/drawingml/2006/main">
            <a:off x="11258550" y="64008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1">
                <a:solidFill>
                  <a:srgbClr val="F4D77A"/>
                </a:solidFill>
                <a:latin typeface="Avenir Next"/>
                <a:ea typeface="Avenir Next"/>
                <a:cs typeface="Avenir Next"/>
              </a:defRPr>
            </a:pPr>
            <a:r>
              <a:rPr sz="1050" b="1">
                <a:solidFill>
                  <a:srgbClr val="F4D77A"/>
                </a:solidFill>
                <a:latin typeface="Avenir Next"/>
                <a:ea typeface="Avenir Next"/>
                <a:cs typeface="Avenir Next"/>
              </a:rPr>
              <a:t>02</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20346309af62464a"/>
          <a:stretch xmlns:a="http://schemas.openxmlformats.org/drawingml/2006/main"/>
        </p:blipFill>
        <p:spPr>
          <a:xfrm xmlns:a="http://schemas.openxmlformats.org/drawingml/2006/main">
            <a:off x="533400" y="6362700"/>
            <a:ext cx="266700" cy="266700"/>
          </a:xfrm>
          <a:prstGeom xmlns:a="http://schemas.openxmlformats.org/drawingml/2006/main" prst="rect">
            <a:avLst/>
          </a:prstGeom>
        </p:spPr>
      </p:pic>
    </p:spTree>
    <p:extLst>
      <p:ext uri="{BB962C8B-B14F-4D97-AF65-F5344CB8AC3E}">
        <p14:creationId xmlns:p14="http://schemas.microsoft.com/office/powerpoint/2010/main" val="1874298563"/>
      </p:ext>
    </p:extLst>
  </p:cSld>
</p:sld>
</file>

<file path=ppt/slides/slide3.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 name="s3-title">
            <a:extLst xmlns:a="http://schemas.openxmlformats.org/drawingml/2006/main">
              <a:ext uri="{FF2B5EF4-FFF2-40B4-BE49-F238E27FC236}">
                <a16:creationId xmlns:a16="http://schemas.microsoft.com/office/drawing/2014/main" id="{F41B9DC2-A0DA-4101-996E-F67BA8C92548}"/>
              </a:ext>
            </a:extLst>
          </p:cNvPr>
          <p:cNvSpPr>
            <a:spLocks xmlns:a="http://schemas.openxmlformats.org/drawingml/2006/main" noGrp="1"/>
          </p:cNvSpPr>
          <p:nvPr/>
        </p:nvSpPr>
        <p:spPr>
          <a:xfrm xmlns:a="http://schemas.openxmlformats.org/drawingml/2006/main">
            <a:off x="533400" y="514350"/>
            <a:ext cx="72390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4800" b="1">
                <a:solidFill>
                  <a:srgbClr val="1746D1"/>
                </a:solidFill>
                <a:latin typeface="Avenir Next Condensed"/>
                <a:ea typeface="Avenir Next Condensed"/>
                <a:cs typeface="Avenir Next Condensed"/>
              </a:defRPr>
            </a:pPr>
            <a:r>
              <a:rPr sz="4800" b="1">
                <a:solidFill>
                  <a:srgbClr val="1746D1"/>
                </a:solidFill>
                <a:latin typeface="Avenir Next Condensed"/>
                <a:ea typeface="Avenir Next Condensed"/>
                <a:cs typeface="Avenir Next Condensed"/>
              </a:rPr>
              <a:t>Let’s teach the company</a:t>
            </a:r>
          </a:p>
          <a:p xmlns:a="http://schemas.openxmlformats.org/drawingml/2006/main">
            <a:pPr algn="l">
              <a:buNone/>
              <a:defRPr sz="4800" b="1">
                <a:solidFill>
                  <a:srgbClr val="1746D1"/>
                </a:solidFill>
                <a:latin typeface="Avenir Next Condensed"/>
                <a:ea typeface="Avenir Next Condensed"/>
                <a:cs typeface="Avenir Next Condensed"/>
              </a:defRPr>
            </a:pPr>
            <a:r>
              <a:rPr sz="4800" b="1">
                <a:solidFill>
                  <a:srgbClr val="1746D1"/>
                </a:solidFill>
                <a:latin typeface="Avenir Next Condensed"/>
                <a:ea typeface="Avenir Next Condensed"/>
                <a:cs typeface="Avenir Next Condensed"/>
              </a:rPr>
              <a:t>one real rule.</a:t>
            </a:r>
          </a:p>
        </p:txBody>
      </p:sp>
      <p:sp>
        <p:nvSpPr>
          <p:cNvPr id="2" name="s3-kicker">
            <a:extLst xmlns:a="http://schemas.openxmlformats.org/drawingml/2006/main">
              <a:ext uri="{FF2B5EF4-FFF2-40B4-BE49-F238E27FC236}">
                <a16:creationId xmlns:a16="http://schemas.microsoft.com/office/drawing/2014/main" id="{98F2AED0-15E0-46C3-8B5C-E0444139FC9C}"/>
              </a:ext>
            </a:extLst>
          </p:cNvPr>
          <p:cNvSpPr>
            <a:spLocks xmlns:a="http://schemas.openxmlformats.org/drawingml/2006/main" noGrp="1"/>
          </p:cNvSpPr>
          <p:nvPr/>
        </p:nvSpPr>
        <p:spPr>
          <a:xfrm xmlns:a="http://schemas.openxmlformats.org/drawingml/2006/main">
            <a:off x="571500" y="2114550"/>
            <a:ext cx="628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250" b="1">
                <a:solidFill>
                  <a:srgbClr val="ED654F"/>
                </a:solidFill>
                <a:latin typeface="Avenir Next"/>
                <a:ea typeface="Avenir Next"/>
                <a:cs typeface="Avenir Next"/>
              </a:defRPr>
            </a:pPr>
            <a:r>
              <a:rPr sz="2250" b="1">
                <a:solidFill>
                  <a:srgbClr val="ED654F"/>
                </a:solidFill>
                <a:latin typeface="Avenir Next"/>
                <a:ea typeface="Avenir Next"/>
                <a:cs typeface="Avenir Next"/>
              </a:rPr>
              <a:t>Then watch it travel.</a:t>
            </a:r>
          </a:p>
        </p:txBody>
      </p:sp>
      <p:sp>
        <p:nvSpPr>
          <p:cNvPr id="3" name="s3-quote">
            <a:extLst xmlns:a="http://schemas.openxmlformats.org/drawingml/2006/main">
              <a:ext uri="{FF2B5EF4-FFF2-40B4-BE49-F238E27FC236}">
                <a16:creationId xmlns:a16="http://schemas.microsoft.com/office/drawing/2014/main" id="{D3AA8AB1-F13F-4EC8-8233-42707E944921}"/>
              </a:ext>
            </a:extLst>
          </p:cNvPr>
          <p:cNvSpPr>
            <a:spLocks xmlns:a="http://schemas.openxmlformats.org/drawingml/2006/main" noGrp="1"/>
          </p:cNvSpPr>
          <p:nvPr/>
        </p:nvSpPr>
        <p:spPr>
          <a:xfrm xmlns:a="http://schemas.openxmlformats.org/drawingml/2006/main">
            <a:off x="533400" y="3009900"/>
            <a:ext cx="6324600" cy="2133600"/>
          </a:xfrm>
          <a:prstGeom xmlns:a="http://schemas.openxmlformats.org/drawingml/2006/main" prst="roundRect">
            <a:avLst>
              <a:gd name="adj" fmla="val 8036"/>
            </a:avLst>
          </a:prstGeom>
          <a:solidFill xmlns:a="http://schemas.openxmlformats.org/drawingml/2006/main">
            <a:srgbClr val="1746D1"/>
          </a:solidFill>
          <a:ln xmlns:a="http://schemas.openxmlformats.org/drawingml/2006/main" w="0">
            <a:noFill/>
            <a:prstDash val="solid"/>
          </a:ln>
        </p:spPr>
        <p:txBody>
          <a:bodyPr xmlns:a="http://schemas.openxmlformats.org/drawingml/2006/main" lIns="381000" tIns="228600" rIns="342900" bIns="228600" anchor="ctr">
            <a:normAutofit fontScale="100000"/>
          </a:bodyPr>
          <a:lstStyle xmlns:a="http://schemas.openxmlformats.org/drawingml/2006/main"/>
          <a:p xmlns:a="http://schemas.openxmlformats.org/drawingml/2006/main">
            <a:pPr algn="l">
              <a:buNone/>
              <a:defRPr sz="2700" b="1">
                <a:solidFill>
                  <a:srgbClr val="FAF7EF"/>
                </a:solidFill>
                <a:latin typeface="Avenir Next"/>
                <a:ea typeface="Avenir Next"/>
                <a:cs typeface="Avenir Next"/>
              </a:defRPr>
            </a:pPr>
            <a:r>
              <a:rPr sz="2700" b="1">
                <a:solidFill>
                  <a:srgbClr val="FAF7EF"/>
                </a:solidFill>
                <a:latin typeface="Avenir Next"/>
                <a:ea typeface="Avenir Next"/>
                <a:cs typeface="Avenir Next"/>
              </a:rPr>
              <a:t>“Never discount more than 15%.</a:t>
            </a:r>
          </a:p>
          <a:p xmlns:a="http://schemas.openxmlformats.org/drawingml/2006/main">
            <a:pPr algn="l">
              <a:buNone/>
              <a:defRPr sz="2700" b="1">
                <a:solidFill>
                  <a:srgbClr val="FAF7EF"/>
                </a:solidFill>
                <a:latin typeface="Avenir Next"/>
                <a:ea typeface="Avenir Next"/>
                <a:cs typeface="Avenir Next"/>
              </a:defRPr>
            </a:pPr>
            <a:r>
              <a:rPr sz="2700" b="1">
                <a:solidFill>
                  <a:srgbClr val="FAF7EF"/>
                </a:solidFill>
                <a:latin typeface="Avenir Next"/>
                <a:ea typeface="Avenir Next"/>
                <a:cs typeface="Avenir Next"/>
              </a:rPr>
              <a:t>Prefer a free add-on.”</a:t>
            </a:r>
          </a:p>
        </p:txBody>
      </p:sp>
      <p:sp>
        <p:nvSpPr>
          <p:cNvPr id="4" name="s3-outcome-badge-0">
            <a:extLst xmlns:a="http://schemas.openxmlformats.org/drawingml/2006/main">
              <a:ext uri="{FF2B5EF4-FFF2-40B4-BE49-F238E27FC236}">
                <a16:creationId xmlns:a16="http://schemas.microsoft.com/office/drawing/2014/main" id="{FB8C9FA8-BF35-424B-8A4E-F5B86C5C2F65}"/>
              </a:ext>
            </a:extLst>
          </p:cNvPr>
          <p:cNvSpPr>
            <a:spLocks xmlns:a="http://schemas.openxmlformats.org/drawingml/2006/main" noGrp="1"/>
          </p:cNvSpPr>
          <p:nvPr/>
        </p:nvSpPr>
        <p:spPr>
          <a:xfrm xmlns:a="http://schemas.openxmlformats.org/drawingml/2006/main">
            <a:off x="7524750" y="2724150"/>
            <a:ext cx="533400" cy="533400"/>
          </a:xfrm>
          <a:prstGeom xmlns:a="http://schemas.openxmlformats.org/drawingml/2006/main" prst="roundRect">
            <a:avLst>
              <a:gd name="adj" fmla="val 17857"/>
            </a:avLst>
          </a:prstGeom>
          <a:solidFill xmlns:a="http://schemas.openxmlformats.org/drawingml/2006/main">
            <a:srgbClr val="1746D1"/>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a:solidFill>
                  <a:srgbClr val="FAF7EF"/>
                </a:solidFill>
                <a:latin typeface="Avenir Next Condensed"/>
                <a:ea typeface="Avenir Next Condensed"/>
                <a:cs typeface="Avenir Next Condensed"/>
              </a:defRPr>
            </a:pPr>
            <a:r>
              <a:rPr sz="1875" b="1">
                <a:solidFill>
                  <a:srgbClr val="FAF7EF"/>
                </a:solidFill>
                <a:latin typeface="Avenir Next Condensed"/>
                <a:ea typeface="Avenir Next Condensed"/>
                <a:cs typeface="Avenir Next Condensed"/>
              </a:rPr>
              <a:t>1</a:t>
            </a:r>
          </a:p>
        </p:txBody>
      </p:sp>
      <p:sp>
        <p:nvSpPr>
          <p:cNvPr id="5" name="s3-outcome-title-0">
            <a:extLst xmlns:a="http://schemas.openxmlformats.org/drawingml/2006/main">
              <a:ext uri="{FF2B5EF4-FFF2-40B4-BE49-F238E27FC236}">
                <a16:creationId xmlns:a16="http://schemas.microsoft.com/office/drawing/2014/main" id="{39418815-C3B6-4C80-813D-899DCE7A26E9}"/>
              </a:ext>
            </a:extLst>
          </p:cNvPr>
          <p:cNvSpPr>
            <a:spLocks xmlns:a="http://schemas.openxmlformats.org/drawingml/2006/main" noGrp="1"/>
          </p:cNvSpPr>
          <p:nvPr/>
        </p:nvSpPr>
        <p:spPr>
          <a:xfrm xmlns:a="http://schemas.openxmlformats.org/drawingml/2006/main">
            <a:off x="8267700" y="27051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293331"/>
                </a:solidFill>
                <a:latin typeface="Avenir Next Condensed"/>
                <a:ea typeface="Avenir Next Condensed"/>
                <a:cs typeface="Avenir Next Condensed"/>
              </a:defRPr>
            </a:pPr>
            <a:r>
              <a:rPr sz="1800" b="1">
                <a:solidFill>
                  <a:srgbClr val="293331"/>
                </a:solidFill>
                <a:latin typeface="Avenir Next Condensed"/>
                <a:ea typeface="Avenir Next Condensed"/>
                <a:cs typeface="Avenir Next Condensed"/>
              </a:rPr>
              <a:t>MARKETING</a:t>
            </a:r>
          </a:p>
        </p:txBody>
      </p:sp>
      <p:sp>
        <p:nvSpPr>
          <p:cNvPr id="6" name="s3-outcome-desc-0">
            <a:extLst xmlns:a="http://schemas.openxmlformats.org/drawingml/2006/main">
              <a:ext uri="{FF2B5EF4-FFF2-40B4-BE49-F238E27FC236}">
                <a16:creationId xmlns:a16="http://schemas.microsoft.com/office/drawing/2014/main" id="{5FB15996-103B-41FA-A82E-B375A859C4B9}"/>
              </a:ext>
            </a:extLst>
          </p:cNvPr>
          <p:cNvSpPr>
            <a:spLocks xmlns:a="http://schemas.openxmlformats.org/drawingml/2006/main" noGrp="1"/>
          </p:cNvSpPr>
          <p:nvPr/>
        </p:nvSpPr>
        <p:spPr>
          <a:xfrm xmlns:a="http://schemas.openxmlformats.org/drawingml/2006/main">
            <a:off x="8267700" y="30194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293331"/>
                </a:solidFill>
                <a:latin typeface="Avenir Next"/>
                <a:ea typeface="Avenir Next"/>
                <a:cs typeface="Avenir Next"/>
              </a:defRPr>
            </a:pPr>
            <a:r>
              <a:rPr sz="1425" b="0">
                <a:solidFill>
                  <a:srgbClr val="293331"/>
                </a:solidFill>
                <a:latin typeface="Avenir Next"/>
                <a:ea typeface="Avenir Next"/>
                <a:cs typeface="Avenir Next"/>
              </a:rPr>
              <a:t>Uses the rule</a:t>
            </a:r>
          </a:p>
        </p:txBody>
      </p:sp>
      <p:sp>
        <p:nvSpPr>
          <p:cNvPr id="7" name="s3-outcome-badge-1">
            <a:extLst xmlns:a="http://schemas.openxmlformats.org/drawingml/2006/main">
              <a:ext uri="{FF2B5EF4-FFF2-40B4-BE49-F238E27FC236}">
                <a16:creationId xmlns:a16="http://schemas.microsoft.com/office/drawing/2014/main" id="{58810BDB-6880-4DAD-A7E3-326445C29749}"/>
              </a:ext>
            </a:extLst>
          </p:cNvPr>
          <p:cNvSpPr>
            <a:spLocks xmlns:a="http://schemas.openxmlformats.org/drawingml/2006/main" noGrp="1"/>
          </p:cNvSpPr>
          <p:nvPr/>
        </p:nvSpPr>
        <p:spPr>
          <a:xfrm xmlns:a="http://schemas.openxmlformats.org/drawingml/2006/main">
            <a:off x="7524750" y="3600450"/>
            <a:ext cx="533400" cy="533400"/>
          </a:xfrm>
          <a:prstGeom xmlns:a="http://schemas.openxmlformats.org/drawingml/2006/main" prst="roundRect">
            <a:avLst>
              <a:gd name="adj" fmla="val 17857"/>
            </a:avLst>
          </a:prstGeom>
          <a:solidFill xmlns:a="http://schemas.openxmlformats.org/drawingml/2006/main">
            <a:srgbClr val="F4D77A"/>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a:solidFill>
                  <a:srgbClr val="293331"/>
                </a:solidFill>
                <a:latin typeface="Avenir Next Condensed"/>
                <a:ea typeface="Avenir Next Condensed"/>
                <a:cs typeface="Avenir Next Condensed"/>
              </a:defRPr>
            </a:pPr>
            <a:r>
              <a:rPr sz="1875" b="1">
                <a:solidFill>
                  <a:srgbClr val="293331"/>
                </a:solidFill>
                <a:latin typeface="Avenir Next Condensed"/>
                <a:ea typeface="Avenir Next Condensed"/>
                <a:cs typeface="Avenir Next Condensed"/>
              </a:rPr>
              <a:t>2</a:t>
            </a:r>
          </a:p>
        </p:txBody>
      </p:sp>
      <p:sp>
        <p:nvSpPr>
          <p:cNvPr id="8" name="s3-outcome-title-1">
            <a:extLst xmlns:a="http://schemas.openxmlformats.org/drawingml/2006/main">
              <a:ext uri="{FF2B5EF4-FFF2-40B4-BE49-F238E27FC236}">
                <a16:creationId xmlns:a16="http://schemas.microsoft.com/office/drawing/2014/main" id="{8AEA31E5-5915-4A5B-B50D-E085F4851717}"/>
              </a:ext>
            </a:extLst>
          </p:cNvPr>
          <p:cNvSpPr>
            <a:spLocks xmlns:a="http://schemas.openxmlformats.org/drawingml/2006/main" noGrp="1"/>
          </p:cNvSpPr>
          <p:nvPr/>
        </p:nvSpPr>
        <p:spPr>
          <a:xfrm xmlns:a="http://schemas.openxmlformats.org/drawingml/2006/main">
            <a:off x="8267700" y="35814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293331"/>
                </a:solidFill>
                <a:latin typeface="Avenir Next Condensed"/>
                <a:ea typeface="Avenir Next Condensed"/>
                <a:cs typeface="Avenir Next Condensed"/>
              </a:defRPr>
            </a:pPr>
            <a:r>
              <a:rPr sz="1800" b="1">
                <a:solidFill>
                  <a:srgbClr val="293331"/>
                </a:solidFill>
                <a:latin typeface="Avenir Next Condensed"/>
                <a:ea typeface="Avenir Next Condensed"/>
                <a:cs typeface="Avenir Next Condensed"/>
              </a:rPr>
              <a:t>OPERATIONS</a:t>
            </a:r>
          </a:p>
        </p:txBody>
      </p:sp>
      <p:sp>
        <p:nvSpPr>
          <p:cNvPr id="9" name="s3-outcome-desc-1">
            <a:extLst xmlns:a="http://schemas.openxmlformats.org/drawingml/2006/main">
              <a:ext uri="{FF2B5EF4-FFF2-40B4-BE49-F238E27FC236}">
                <a16:creationId xmlns:a16="http://schemas.microsoft.com/office/drawing/2014/main" id="{3B2F323A-D176-4035-A7D2-BD7FFE24BA1C}"/>
              </a:ext>
            </a:extLst>
          </p:cNvPr>
          <p:cNvSpPr>
            <a:spLocks xmlns:a="http://schemas.openxmlformats.org/drawingml/2006/main" noGrp="1"/>
          </p:cNvSpPr>
          <p:nvPr/>
        </p:nvSpPr>
        <p:spPr>
          <a:xfrm xmlns:a="http://schemas.openxmlformats.org/drawingml/2006/main">
            <a:off x="8267700" y="38957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293331"/>
                </a:solidFill>
                <a:latin typeface="Avenir Next"/>
                <a:ea typeface="Avenir Next"/>
                <a:cs typeface="Avenir Next"/>
              </a:defRPr>
            </a:pPr>
            <a:r>
              <a:rPr sz="1425" b="0">
                <a:solidFill>
                  <a:srgbClr val="293331"/>
                </a:solidFill>
                <a:latin typeface="Avenir Next"/>
                <a:ea typeface="Avenir Next"/>
                <a:cs typeface="Avenir Next"/>
              </a:rPr>
              <a:t>Turns it into steps</a:t>
            </a:r>
          </a:p>
        </p:txBody>
      </p:sp>
      <p:sp>
        <p:nvSpPr>
          <p:cNvPr id="10" name="s3-outcome-badge-2">
            <a:extLst xmlns:a="http://schemas.openxmlformats.org/drawingml/2006/main">
              <a:ext uri="{FF2B5EF4-FFF2-40B4-BE49-F238E27FC236}">
                <a16:creationId xmlns:a16="http://schemas.microsoft.com/office/drawing/2014/main" id="{9F16FF42-41B8-48F1-8B9E-89869439B7F2}"/>
              </a:ext>
            </a:extLst>
          </p:cNvPr>
          <p:cNvSpPr>
            <a:spLocks xmlns:a="http://schemas.openxmlformats.org/drawingml/2006/main" noGrp="1"/>
          </p:cNvSpPr>
          <p:nvPr/>
        </p:nvSpPr>
        <p:spPr>
          <a:xfrm xmlns:a="http://schemas.openxmlformats.org/drawingml/2006/main">
            <a:off x="7524750" y="4476750"/>
            <a:ext cx="533400" cy="533400"/>
          </a:xfrm>
          <a:prstGeom xmlns:a="http://schemas.openxmlformats.org/drawingml/2006/main" prst="roundRect">
            <a:avLst>
              <a:gd name="adj" fmla="val 17857"/>
            </a:avLst>
          </a:prstGeom>
          <a:solidFill xmlns:a="http://schemas.openxmlformats.org/drawingml/2006/main">
            <a:srgbClr val="ED654F"/>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a:solidFill>
                  <a:srgbClr val="FAF7EF"/>
                </a:solidFill>
                <a:latin typeface="Avenir Next Condensed"/>
                <a:ea typeface="Avenir Next Condensed"/>
                <a:cs typeface="Avenir Next Condensed"/>
              </a:defRPr>
            </a:pPr>
            <a:r>
              <a:rPr sz="1875" b="1">
                <a:solidFill>
                  <a:srgbClr val="FAF7EF"/>
                </a:solidFill>
                <a:latin typeface="Avenir Next Condensed"/>
                <a:ea typeface="Avenir Next Condensed"/>
                <a:cs typeface="Avenir Next Condensed"/>
              </a:rPr>
              <a:t>3</a:t>
            </a:r>
          </a:p>
        </p:txBody>
      </p:sp>
      <p:sp>
        <p:nvSpPr>
          <p:cNvPr id="11" name="s3-outcome-title-2">
            <a:extLst xmlns:a="http://schemas.openxmlformats.org/drawingml/2006/main">
              <a:ext uri="{FF2B5EF4-FFF2-40B4-BE49-F238E27FC236}">
                <a16:creationId xmlns:a16="http://schemas.microsoft.com/office/drawing/2014/main" id="{E3E53C6D-038A-4FC8-BB98-B5A8CACDAE72}"/>
              </a:ext>
            </a:extLst>
          </p:cNvPr>
          <p:cNvSpPr>
            <a:spLocks xmlns:a="http://schemas.openxmlformats.org/drawingml/2006/main" noGrp="1"/>
          </p:cNvSpPr>
          <p:nvPr/>
        </p:nvSpPr>
        <p:spPr>
          <a:xfrm xmlns:a="http://schemas.openxmlformats.org/drawingml/2006/main">
            <a:off x="8267700" y="44577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293331"/>
                </a:solidFill>
                <a:latin typeface="Avenir Next Condensed"/>
                <a:ea typeface="Avenir Next Condensed"/>
                <a:cs typeface="Avenir Next Condensed"/>
              </a:defRPr>
            </a:pPr>
            <a:r>
              <a:rPr sz="1800" b="1">
                <a:solidFill>
                  <a:srgbClr val="293331"/>
                </a:solidFill>
                <a:latin typeface="Avenir Next Condensed"/>
                <a:ea typeface="Avenir Next Condensed"/>
                <a:cs typeface="Avenir Next Condensed"/>
              </a:rPr>
              <a:t>EMPLOYEE</a:t>
            </a:r>
          </a:p>
        </p:txBody>
      </p:sp>
      <p:sp>
        <p:nvSpPr>
          <p:cNvPr id="12" name="s3-outcome-desc-2">
            <a:extLst xmlns:a="http://schemas.openxmlformats.org/drawingml/2006/main">
              <a:ext uri="{FF2B5EF4-FFF2-40B4-BE49-F238E27FC236}">
                <a16:creationId xmlns:a16="http://schemas.microsoft.com/office/drawing/2014/main" id="{E60B2BA7-119E-4E7E-80A8-60AAEC03354B}"/>
              </a:ext>
            </a:extLst>
          </p:cNvPr>
          <p:cNvSpPr>
            <a:spLocks xmlns:a="http://schemas.openxmlformats.org/drawingml/2006/main" noGrp="1"/>
          </p:cNvSpPr>
          <p:nvPr/>
        </p:nvSpPr>
        <p:spPr>
          <a:xfrm xmlns:a="http://schemas.openxmlformats.org/drawingml/2006/main">
            <a:off x="8267700" y="47720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293331"/>
                </a:solidFill>
                <a:latin typeface="Avenir Next"/>
                <a:ea typeface="Avenir Next"/>
                <a:cs typeface="Avenir Next"/>
              </a:defRPr>
            </a:pPr>
            <a:r>
              <a:rPr sz="1425" b="0">
                <a:solidFill>
                  <a:srgbClr val="293331"/>
                </a:solidFill>
                <a:latin typeface="Avenir Next"/>
                <a:ea typeface="Avenir Next"/>
                <a:cs typeface="Avenir Next"/>
              </a:rPr>
              <a:t>Answers 25%? No.</a:t>
            </a:r>
          </a:p>
        </p:txBody>
      </p:sp>
      <p:sp>
        <p:nvSpPr>
          <p:cNvPr id="13" name="s3-demo-button">
            <a:extLst xmlns:a="http://schemas.openxmlformats.org/drawingml/2006/main">
              <a:ext uri="{FF2B5EF4-FFF2-40B4-BE49-F238E27FC236}">
                <a16:creationId xmlns:a16="http://schemas.microsoft.com/office/drawing/2014/main" id="{FB4D3B3F-A1E0-48C5-95AA-520F9A724491}"/>
              </a:ext>
            </a:extLst>
          </p:cNvPr>
          <p:cNvSpPr>
            <a:spLocks xmlns:a="http://schemas.openxmlformats.org/drawingml/2006/main" noGrp="1"/>
          </p:cNvSpPr>
          <p:nvPr/>
        </p:nvSpPr>
        <p:spPr>
          <a:xfrm xmlns:a="http://schemas.openxmlformats.org/drawingml/2006/main">
            <a:off x="7524750" y="5562600"/>
            <a:ext cx="4000500" cy="685800"/>
          </a:xfrm>
          <a:prstGeom xmlns:a="http://schemas.openxmlformats.org/drawingml/2006/main" prst="roundRect">
            <a:avLst>
              <a:gd name="adj" fmla="val 16667"/>
            </a:avLst>
          </a:prstGeom>
          <a:solidFill xmlns:a="http://schemas.openxmlformats.org/drawingml/2006/main">
            <a:srgbClr val="ED654F"/>
          </a:solidFill>
          <a:ln xmlns:a="http://schemas.openxmlformats.org/drawingml/2006/main" w="0">
            <a:noFill/>
            <a:prstDash val="solid"/>
          </a:ln>
        </p:spPr>
        <p:txBody>
          <a:bodyPr xmlns:a="http://schemas.openxmlformats.org/drawingml/2006/main" lIns="171450" tIns="76200" rIns="171450" bIns="76200" anchor="ctr">
            <a:normAutofit fontScale="100000"/>
          </a:bodyPr>
          <a:lstStyle xmlns:a="http://schemas.openxmlformats.org/drawingml/2006/main"/>
          <a:p xmlns:a="http://schemas.openxmlformats.org/drawingml/2006/main">
            <a:pPr algn="ctr">
              <a:buNone/>
            </a:pPr>
            <a:r>
              <a:rPr sz="2500" b="1">
                <a:solidFill>
                  <a:srgbClr val="FAF7EF"/>
                </a:solidFill>
                <a:latin typeface="Avenir Next Condensed"/>
                <a:ea typeface="Avenir Next Condensed"/>
                <a:cs typeface="Avenir Next Condensed"/>
                <a:hlinkClick xmlns:r="http://schemas.openxmlformats.org/officeDocument/2006/relationships" r:id="Rfc9b481db0904b69"/>
              </a:rPr>
              <a:t>START LIVE DEMO  →</a:t>
            </a:r>
          </a:p>
        </p:txBody>
      </p:sp>
      <p:sp>
        <p:nvSpPr>
          <p:cNvPr id="14" name="footer-brand-3">
            <a:extLst xmlns:a="http://schemas.openxmlformats.org/drawingml/2006/main">
              <a:ext uri="{FF2B5EF4-FFF2-40B4-BE49-F238E27FC236}">
                <a16:creationId xmlns:a16="http://schemas.microsoft.com/office/drawing/2014/main" id="{03C80229-D977-4C26-B1C7-C4465AB6ED7F}"/>
              </a:ext>
            </a:extLst>
          </p:cNvPr>
          <p:cNvSpPr>
            <a:spLocks xmlns:a="http://schemas.openxmlformats.org/drawingml/2006/main" noGrp="1"/>
          </p:cNvSpPr>
          <p:nvPr/>
        </p:nvSpPr>
        <p:spPr>
          <a:xfrm xmlns:a="http://schemas.openxmlformats.org/drawingml/2006/main">
            <a:off x="895350" y="64008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1746D1"/>
                </a:solidFill>
                <a:latin typeface="Avenir Next Condensed"/>
                <a:ea typeface="Avenir Next Condensed"/>
                <a:cs typeface="Avenir Next Condensed"/>
              </a:defRPr>
            </a:pPr>
            <a:r>
              <a:rPr sz="1200" b="1">
                <a:solidFill>
                  <a:srgbClr val="1746D1"/>
                </a:solidFill>
                <a:latin typeface="Avenir Next Condensed"/>
                <a:ea typeface="Avenir Next Condensed"/>
                <a:cs typeface="Avenir Next Condensed"/>
              </a:rPr>
              <a:t>MY LITTLE COMPANY</a:t>
            </a:r>
          </a:p>
        </p:txBody>
      </p:sp>
      <p:sp>
        <p:nvSpPr>
          <p:cNvPr id="15" name="footer-number-3">
            <a:extLst xmlns:a="http://schemas.openxmlformats.org/drawingml/2006/main">
              <a:ext uri="{FF2B5EF4-FFF2-40B4-BE49-F238E27FC236}">
                <a16:creationId xmlns:a16="http://schemas.microsoft.com/office/drawing/2014/main" id="{A3C47564-ACE3-4B58-925E-BE85BA6471D6}"/>
              </a:ext>
            </a:extLst>
          </p:cNvPr>
          <p:cNvSpPr>
            <a:spLocks xmlns:a="http://schemas.openxmlformats.org/drawingml/2006/main" noGrp="1"/>
          </p:cNvSpPr>
          <p:nvPr/>
        </p:nvSpPr>
        <p:spPr>
          <a:xfrm xmlns:a="http://schemas.openxmlformats.org/drawingml/2006/main">
            <a:off x="11258550" y="64008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1">
                <a:solidFill>
                  <a:srgbClr val="293331"/>
                </a:solidFill>
                <a:latin typeface="Avenir Next"/>
                <a:ea typeface="Avenir Next"/>
                <a:cs typeface="Avenir Next"/>
              </a:defRPr>
            </a:pPr>
            <a:r>
              <a:rPr sz="1050" b="1">
                <a:solidFill>
                  <a:srgbClr val="293331"/>
                </a:solidFill>
                <a:latin typeface="Avenir Next"/>
                <a:ea typeface="Avenir Next"/>
                <a:cs typeface="Avenir Next"/>
              </a:rPr>
              <a:t>03</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e6dd78ca5e154c76"/>
          <a:stretch xmlns:a="http://schemas.openxmlformats.org/drawingml/2006/main"/>
        </p:blipFill>
        <p:spPr>
          <a:xfrm xmlns:a="http://schemas.openxmlformats.org/drawingml/2006/main">
            <a:off x="533400" y="6362700"/>
            <a:ext cx="266700" cy="266700"/>
          </a:xfrm>
          <a:prstGeom xmlns:a="http://schemas.openxmlformats.org/drawingml/2006/main" prst="rect">
            <a:avLst/>
          </a:prstGeom>
        </p:spPr>
      </p:pic>
    </p:spTree>
    <p:extLst>
      <p:ext uri="{BB962C8B-B14F-4D97-AF65-F5344CB8AC3E}">
        <p14:creationId xmlns:p14="http://schemas.microsoft.com/office/powerpoint/2010/main" val="14481429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2026-07-11T10:36:02.9900000Z</dcterms:created>
  <dcterms:modified xsi:type="dcterms:W3CDTF">2026-07-11T10:36:02.9900000Z</dcterms:modified>
</coreProperties>
</file>