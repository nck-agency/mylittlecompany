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fc524e4831477a" /><Relationship Type="http://schemas.openxmlformats.org/officeDocument/2006/relationships/extended-properties" Target="/docProps/app.xml" Id="R6d9e7535bd4646b1" /><Relationship Type="http://schemas.openxmlformats.org/officeDocument/2006/relationships/officeDocument" Target="/ppt/presentation.xml" Id="Rf2eb8d4ef5764342" /></Relationships>
</file>

<file path=ppt/presentation.xml><?xml version="1.0" encoding="utf-8"?>
<p:presentation xmlns:p="http://schemas.openxmlformats.org/presentationml/2006/main">
  <p:sldMasterIdLst>
    <p:sldMasterId xmlns:r="http://schemas.openxmlformats.org/officeDocument/2006/relationships" id="2147483648" r:id="Ra807e505e3014616"/>
  </p:sldMasterIdLst>
  <p:notesMasterIdLst>
    <p:notesMasterId xmlns:r="http://schemas.openxmlformats.org/officeDocument/2006/relationships" r:id="R40b3473049fb4627"/>
  </p:notesMasterIdLst>
  <p:sldIdLst>
    <p:sldId xmlns:r="http://schemas.openxmlformats.org/officeDocument/2006/relationships" id="256" r:id="Re93d5386168b4ad8"/>
    <p:sldId xmlns:r="http://schemas.openxmlformats.org/officeDocument/2006/relationships" id="257" r:id="Rcc41e1627fce40b0"/>
    <p:sldId xmlns:r="http://schemas.openxmlformats.org/officeDocument/2006/relationships" id="258" r:id="R6be498c61ff84303"/>
    <p:sldId xmlns:r="http://schemas.openxmlformats.org/officeDocument/2006/relationships" id="259" r:id="R102a12ba8dce435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810fb88e3649c0" /><Relationship Type="http://schemas.openxmlformats.org/officeDocument/2006/relationships/slideMaster" Target="/ppt/slideMasters/slideMaster1.xml" Id="Ra807e505e3014616" /><Relationship Type="http://schemas.openxmlformats.org/officeDocument/2006/relationships/notesMaster" Target="/ppt/notesMasters/notesMaster1.xml" Id="R40b3473049fb4627" /><Relationship Type="http://schemas.openxmlformats.org/officeDocument/2006/relationships/presProps" Target="/ppt/presProps.xml" Id="R1253918c52ea4621" /><Relationship Type="http://schemas.openxmlformats.org/officeDocument/2006/relationships/tableStyles" Target="/ppt/tableStyles.xml" Id="R9f0d0a1d369c42dc" /><Relationship Type="http://schemas.openxmlformats.org/officeDocument/2006/relationships/slide" Target="/ppt/slides/slide1.xml" Id="Re93d5386168b4ad8" /><Relationship Type="http://schemas.openxmlformats.org/officeDocument/2006/relationships/slide" Target="/ppt/slides/slide2.xml" Id="Rcc41e1627fce40b0" /><Relationship Type="http://schemas.openxmlformats.org/officeDocument/2006/relationships/slide" Target="/ppt/slides/slide3.xml" Id="R6be498c61ff84303" /><Relationship Type="http://schemas.openxmlformats.org/officeDocument/2006/relationships/slide" Target="/ppt/slides/slide4.xml" Id="R102a12ba8dce43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adeaa0b71842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73768ff7ba4426" /><Relationship Type="http://schemas.openxmlformats.org/officeDocument/2006/relationships/notesMaster" Target="/ppt/notesMasters/notesMaster1.xml" Id="Rcc38b7d5ae434c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1d8f61cad64bfb" /><Relationship Type="http://schemas.openxmlformats.org/officeDocument/2006/relationships/notesMaster" Target="/ppt/notesMasters/notesMaster1.xml" Id="Rddd97a9e54ad44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668b505ebe42dc" /><Relationship Type="http://schemas.openxmlformats.org/officeDocument/2006/relationships/notesMaster" Target="/ppt/notesMasters/notesMaster1.xml" Id="R66878a68d86c47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771a44ee7a4984" /><Relationship Type="http://schemas.openxmlformats.org/officeDocument/2006/relationships/notesMaster" Target="/ppt/notesMasters/notesMaster1.xml" Id="R53163993a16f44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0:00–0:10</a:t>
            </a:r>
          </a:p>
          <a:p xmlns:a="http://schemas.openxmlformats.org/drawingml/2006/main">
            <a:r>
              <a:t/>
            </a:r>
          </a:p>
          <a:p xmlns:a="http://schemas.openxmlformats.org/drawingml/2006/main">
            <a:r>
              <a:t>My Little Company. Explain it once. Your company remembers.</a:t>
            </a:r>
          </a:p>
          <a:p xmlns:a="http://schemas.openxmlformats.org/drawingml/2006/main">
            <a:r>
              <a:t/>
            </a:r>
          </a:p>
          <a:p xmlns:a="http://schemas.openxmlformats.org/drawingml/2006/main">
            <a:r>
              <a:t>ACTION: Pause for the promise to land, then advance.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0:10–0:40</a:t>
            </a:r>
          </a:p>
          <a:p xmlns:a="http://schemas.openxmlformats.org/drawingml/2006/main">
            <a:r>
              <a:t/>
            </a:r>
          </a:p>
          <a:p xmlns:a="http://schemas.openxmlformats.org/drawingml/2006/main">
            <a:r>
              <a:t>Small-business owners already explain important rules while they are working. They say things like: never discount more than 15 percent, prefer a free add-on, and protect the premium image.</a:t>
            </a:r>
          </a:p>
          <a:p xmlns:a="http://schemas.openxmlformats.org/drawingml/2006/main">
            <a:r>
              <a:t/>
            </a:r>
          </a:p>
          <a:p xmlns:a="http://schemas.openxmlformats.org/drawingml/2006/main">
            <a:r>
              <a:t>In a normal chat, that useful information disappears into the conversation. My Little Company notices that this sentence could help the business later.</a:t>
            </a:r>
          </a:p>
          <a:p xmlns:a="http://schemas.openxmlformats.org/drawingml/2006/main">
            <a:r>
              <a:t/>
            </a:r>
          </a:p>
          <a:p xmlns:a="http://schemas.openxmlformats.org/drawingml/2006/main">
            <a:r>
              <a:t>ACTION: Advance after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0:40–1:15</a:t>
            </a:r>
          </a:p>
          <a:p xmlns:a="http://schemas.openxmlformats.org/drawingml/2006/main">
            <a:r>
              <a:t/>
            </a:r>
          </a:p>
          <a:p xmlns:a="http://schemas.openxmlformats.org/drawingml/2006/main">
            <a:r>
              <a:t>My Little Company does not save every message. It extracts the durable business knowledge: the clear rule, why it matters, where it came from, and who it affects.</a:t>
            </a:r>
          </a:p>
          <a:p xmlns:a="http://schemas.openxmlformats.org/drawingml/2006/main">
            <a:r>
              <a:t/>
            </a:r>
          </a:p>
          <a:p xmlns:a="http://schemas.openxmlformats.org/drawingml/2006/main">
            <a:r>
              <a:t>Then it asks the owner. Approve, edit, or ignore. The AI never approves company knowledge.</a:t>
            </a:r>
          </a:p>
          <a:p xmlns:a="http://schemas.openxmlformats.org/drawingml/2006/main">
            <a:r>
              <a:t/>
            </a:r>
          </a:p>
          <a:p xmlns:a="http://schemas.openxmlformats.org/drawingml/2006/main">
            <a:r>
              <a:t>Only after a human approves it does the rule enter the company Playbook as trusted, source-backed knowledge.</a:t>
            </a:r>
          </a:p>
          <a:p xmlns:a="http://schemas.openxmlformats.org/drawingml/2006/main">
            <a:r>
              <a:t/>
            </a:r>
          </a:p>
          <a:p xmlns:a="http://schemas.openxmlformats.org/drawingml/2006/main">
            <a:r>
              <a:t>ACTION: Point to chat, suggestion, approval, then 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1:15–1:30 — SLIDE</a:t>
            </a:r>
          </a:p>
          <a:p xmlns:a="http://schemas.openxmlformats.org/drawingml/2006/main">
            <a:r>
              <a:t/>
            </a:r>
          </a:p>
          <a:p xmlns:a="http://schemas.openxmlformats.org/drawingml/2006/main">
            <a:r>
              <a:t>Once the knowledge is approved, every future conversation can reuse the same rule. Marketing creates the right offer. Operations turns it into steps. An employee gets the same answer even when the owner is not present.</a:t>
            </a:r>
          </a:p>
          <a:p xmlns:a="http://schemas.openxmlformats.org/drawingml/2006/main">
            <a:r>
              <a:t/>
            </a:r>
          </a:p>
          <a:p xmlns:a="http://schemas.openxmlformats.org/drawingml/2006/main">
            <a:r>
              <a:t>Now let’s see the complete loop live.</a:t>
            </a:r>
          </a:p>
          <a:p xmlns:a="http://schemas.openxmlformats.org/drawingml/2006/main">
            <a:r>
              <a:t/>
            </a:r>
          </a:p>
          <a:p xmlns:a="http://schemas.openxmlformats.org/drawingml/2006/main">
            <a:r>
              <a:t>1:30–4:35 — LIVE DEMO</a:t>
            </a:r>
          </a:p>
          <a:p xmlns:a="http://schemas.openxmlformats.org/drawingml/2006/main">
            <a:r>
              <a:t>1. Marketing: “Tuesdays are quiet. Create a promotion to bring more customers in.”</a:t>
            </a:r>
          </a:p>
          <a:p xmlns:a="http://schemas.openxmlformats.org/drawingml/2006/main">
            <a:r>
              <a:t>2. Owner: “We never discount more than 15%. We prefer offering a free add-on because we want to maintain a premium image.”</a:t>
            </a:r>
          </a:p>
          <a:p xmlns:a="http://schemas.openxmlformats.org/drawingml/2006/main">
            <a:r>
              <a:t>3. Show the suggested company knowledge card. Point out statement, rationale, roles, and source. Click Approve.</a:t>
            </a:r>
          </a:p>
          <a:p xmlns:a="http://schemas.openxmlformats.org/drawingml/2006/main">
            <a:r>
              <a:t>4. Ask Marketing to revise using approved rules, or skip if time is short.</a:t>
            </a:r>
          </a:p>
          <a:p xmlns:a="http://schemas.openxmlformats.org/drawingml/2006/main">
            <a:r>
              <a:t>5. Generate the Operations SOP.</a:t>
            </a:r>
          </a:p>
          <a:p xmlns:a="http://schemas.openxmlformats.org/drawingml/2006/main">
            <a:r>
              <a:t>6. Ask Employee: “Can I give a customer 25% off?” Show the No, rationale, source, and approval date.</a:t>
            </a:r>
          </a:p>
          <a:p xmlns:a="http://schemas.openxmlformats.org/drawingml/2006/main">
            <a:r>
              <a:t/>
            </a:r>
          </a:p>
          <a:p xmlns:a="http://schemas.openxmlformats.org/drawingml/2006/main">
            <a:r>
              <a:t>4:35–5:00 — CLOSE</a:t>
            </a:r>
          </a:p>
          <a:p xmlns:a="http://schemas.openxmlformats.org/drawingml/2006/main">
            <a:r>
              <a:t>You chat normally. My Little Company notices what matters, asks you to approve it, and saves it to the company Playbook. Explain it once. Your company remembers.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fbaa3c129446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b44fe6c0914239" /><Relationship Type="http://schemas.openxmlformats.org/officeDocument/2006/relationships/slideLayout" Target="/ppt/slideLayouts/slideLayout1.xml" Id="Rd5f0c991a9c84c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f0c991a9c84c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16fce2198224599" /><Relationship Type="http://schemas.openxmlformats.org/officeDocument/2006/relationships/image" Target="/ppt/media/image.png" Id="R592594c2d3654021" /><Relationship Type="http://schemas.openxmlformats.org/officeDocument/2006/relationships/notesSlide" Target="/ppt/notesSlides/notesSlide1.xml" Id="Ra076a08b3dfe45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dc954b3d9344e1" /><Relationship Type="http://schemas.openxmlformats.org/officeDocument/2006/relationships/notesSlide" Target="/ppt/notesSlides/notesSlide2.xml" Id="Re8ef6a49225b46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dabb59de17461f" /><Relationship Type="http://schemas.openxmlformats.org/officeDocument/2006/relationships/image" Target="/ppt/media/image2.png" Id="R4d4d4b39f71e4089" /><Relationship Type="http://schemas.openxmlformats.org/officeDocument/2006/relationships/notesSlide" Target="/ppt/notesSlides/notesSlide3.xml" Id="R361ea38610f04d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6ce546020d486d" /><Relationship Type="http://schemas.openxmlformats.org/officeDocument/2006/relationships/image" Target="/ppt/media/image3.png" Id="R27d68e25025a4713" /><Relationship Type="http://schemas.openxmlformats.org/officeDocument/2006/relationships/hyperlink" Target="http://localhost:3000/chat?assistant=MARKETING" TargetMode="External" Id="Rfafde4e7ed4d45f7" /><Relationship Type="http://schemas.openxmlformats.org/officeDocument/2006/relationships/notesSlide" Target="/ppt/notesSlides/notesSlide4.xml" Id="R64d4f06b2ed5484c" /></Relationships>
</file>

<file path=ppt/slides/slide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92594c2d3654021"/>
          <a:stretch xmlns:a="http://schemas.openxmlformats.org/drawingml/2006/main"/>
        </p:blipFill>
        <p:spPr>
          <a:xfrm xmlns:a="http://schemas.openxmlformats.org/drawingml/2006/main">
            <a:off x="4953000" y="876300"/>
            <a:ext cx="2286000" cy="2286000"/>
          </a:xfrm>
          <a:prstGeom xmlns:a="http://schemas.openxmlformats.org/drawingml/2006/main" prst="roundRect">
            <a:avLst>
              <a:gd name="adj" fmla="val 17500"/>
            </a:avLst>
          </a:prstGeom>
        </p:spPr>
      </p:pic>
      <p:sp>
        <p:nvSpPr>
          <p:cNvPr id="2" name="s0-name">
            <a:extLst xmlns:a="http://schemas.openxmlformats.org/drawingml/2006/main">
              <a:ext uri="{FF2B5EF4-FFF2-40B4-BE49-F238E27FC236}">
                <a16:creationId xmlns:a16="http://schemas.microsoft.com/office/drawing/2014/main" id="{62EA7886-AD51-4C4B-AACA-143757379140}"/>
              </a:ext>
            </a:extLst>
          </p:cNvPr>
          <p:cNvSpPr>
            <a:spLocks xmlns:a="http://schemas.openxmlformats.org/drawingml/2006/main" noGrp="1"/>
          </p:cNvSpPr>
          <p:nvPr/>
        </p:nvSpPr>
        <p:spPr>
          <a:xfrm xmlns:a="http://schemas.openxmlformats.org/drawingml/2006/main">
            <a:off x="1619250" y="3448050"/>
            <a:ext cx="8953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5400" b="1">
                <a:solidFill>
                  <a:srgbClr val="1746D1"/>
                </a:solidFill>
                <a:latin typeface="Avenir Next Condensed"/>
                <a:ea typeface="Avenir Next Condensed"/>
                <a:cs typeface="Avenir Next Condensed"/>
              </a:defRPr>
            </a:pPr>
            <a:r>
              <a:rPr sz="5400" b="1">
                <a:solidFill>
                  <a:srgbClr val="1746D1"/>
                </a:solidFill>
                <a:latin typeface="Avenir Next Condensed"/>
                <a:ea typeface="Avenir Next Condensed"/>
                <a:cs typeface="Avenir Next Condensed"/>
              </a:rPr>
              <a:t>MY LITTLE COMPANY</a:t>
            </a:r>
          </a:p>
        </p:txBody>
      </p:sp>
      <p:sp>
        <p:nvSpPr>
          <p:cNvPr id="3" name="s0-promise">
            <a:extLst xmlns:a="http://schemas.openxmlformats.org/drawingml/2006/main">
              <a:ext uri="{FF2B5EF4-FFF2-40B4-BE49-F238E27FC236}">
                <a16:creationId xmlns:a16="http://schemas.microsoft.com/office/drawing/2014/main" id="{B3F7B80E-9BA2-42DD-B224-65687CA555B0}"/>
              </a:ext>
            </a:extLst>
          </p:cNvPr>
          <p:cNvSpPr>
            <a:spLocks xmlns:a="http://schemas.openxmlformats.org/drawingml/2006/main" noGrp="1"/>
          </p:cNvSpPr>
          <p:nvPr/>
        </p:nvSpPr>
        <p:spPr>
          <a:xfrm xmlns:a="http://schemas.openxmlformats.org/drawingml/2006/main">
            <a:off x="2095500" y="4533900"/>
            <a:ext cx="8001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a:solidFill>
                  <a:srgbClr val="293331"/>
                </a:solidFill>
                <a:latin typeface="Avenir Next"/>
                <a:ea typeface="Avenir Next"/>
                <a:cs typeface="Avenir Next"/>
              </a:defRPr>
            </a:pPr>
            <a:r>
              <a:rPr sz="2550" b="1">
                <a:solidFill>
                  <a:srgbClr val="293331"/>
                </a:solidFill>
                <a:latin typeface="Avenir Next"/>
                <a:ea typeface="Avenir Next"/>
                <a:cs typeface="Avenir Next"/>
              </a:rPr>
              <a:t>Explain it once. Your company remembers.</a:t>
            </a:r>
          </a:p>
        </p:txBody>
      </p:sp>
      <p:sp>
        <p:nvSpPr>
          <p:cNvPr id="4" name="s0-accent">
            <a:extLst xmlns:a="http://schemas.openxmlformats.org/drawingml/2006/main">
              <a:ext uri="{FF2B5EF4-FFF2-40B4-BE49-F238E27FC236}">
                <a16:creationId xmlns:a16="http://schemas.microsoft.com/office/drawing/2014/main" id="{6B50EBC5-8FCE-46CF-91C3-6D034DC7B5CF}"/>
              </a:ext>
            </a:extLst>
          </p:cNvPr>
          <p:cNvSpPr>
            <a:spLocks xmlns:a="http://schemas.openxmlformats.org/drawingml/2006/main" noGrp="1"/>
          </p:cNvSpPr>
          <p:nvPr/>
        </p:nvSpPr>
        <p:spPr>
          <a:xfrm xmlns:a="http://schemas.openxmlformats.org/drawingml/2006/main">
            <a:off x="4648200" y="5467350"/>
            <a:ext cx="2895600" cy="133350"/>
          </a:xfrm>
          <a:prstGeom xmlns:a="http://schemas.openxmlformats.org/drawingml/2006/main" prst="roundRect">
            <a:avLst>
              <a:gd name="adj" fmla="val 50000"/>
            </a:avLst>
          </a:prstGeom>
          <a:solidFill xmlns:a="http://schemas.openxmlformats.org/drawingml/2006/main">
            <a:srgbClr val="ED654F"/>
          </a:solidFill>
          <a:ln xmlns:a="http://schemas.openxmlformats.org/drawingml/2006/main" w="0">
            <a:noFill/>
            <a:prstDash val="solid"/>
          </a:ln>
        </p:spPr>
      </p:sp>
    </p:spTree>
    <p:extLst>
      <p:ext uri="{BB962C8B-B14F-4D97-AF65-F5344CB8AC3E}">
        <p14:creationId xmlns:p14="http://schemas.microsoft.com/office/powerpoint/2010/main" val="1808120447"/>
      </p:ext>
    </p:extLst>
  </p:cSld>
</p:sld>
</file>

<file path=ppt/slides/slide2.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 name="s1-title">
            <a:extLst xmlns:a="http://schemas.openxmlformats.org/drawingml/2006/main">
              <a:ext uri="{FF2B5EF4-FFF2-40B4-BE49-F238E27FC236}">
                <a16:creationId xmlns:a16="http://schemas.microsoft.com/office/drawing/2014/main" id="{0A996514-6607-4092-B43E-68CC1F1FD4B6}"/>
              </a:ext>
            </a:extLst>
          </p:cNvPr>
          <p:cNvSpPr>
            <a:spLocks xmlns:a="http://schemas.openxmlformats.org/drawingml/2006/main" noGrp="1"/>
          </p:cNvSpPr>
          <p:nvPr/>
        </p:nvSpPr>
        <p:spPr>
          <a:xfrm xmlns:a="http://schemas.openxmlformats.org/drawingml/2006/main">
            <a:off x="552450" y="514350"/>
            <a:ext cx="10668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1746D1"/>
                </a:solidFill>
                <a:latin typeface="Avenir Next Condensed"/>
                <a:ea typeface="Avenir Next Condensed"/>
                <a:cs typeface="Avenir Next Condensed"/>
              </a:defRPr>
            </a:pPr>
            <a:r>
              <a:rPr sz="4650" b="1">
                <a:solidFill>
                  <a:srgbClr val="1746D1"/>
                </a:solidFill>
                <a:latin typeface="Avenir Next Condensed"/>
                <a:ea typeface="Avenir Next Condensed"/>
                <a:cs typeface="Avenir Next Condensed"/>
              </a:rPr>
              <a:t>You already explain your business in chat.</a:t>
            </a:r>
          </a:p>
        </p:txBody>
      </p:sp>
      <p:sp>
        <p:nvSpPr>
          <p:cNvPr id="2" name="s1-subtitle">
            <a:extLst xmlns:a="http://schemas.openxmlformats.org/drawingml/2006/main">
              <a:ext uri="{FF2B5EF4-FFF2-40B4-BE49-F238E27FC236}">
                <a16:creationId xmlns:a16="http://schemas.microsoft.com/office/drawing/2014/main" id="{F8E30581-F17B-48E3-AD1A-CC61A8D218E3}"/>
              </a:ext>
            </a:extLst>
          </p:cNvPr>
          <p:cNvSpPr>
            <a:spLocks xmlns:a="http://schemas.openxmlformats.org/drawingml/2006/main" noGrp="1"/>
          </p:cNvSpPr>
          <p:nvPr/>
        </p:nvSpPr>
        <p:spPr>
          <a:xfrm xmlns:a="http://schemas.openxmlformats.org/drawingml/2006/main">
            <a:off x="590550" y="14097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ED654F"/>
                </a:solidFill>
                <a:latin typeface="Avenir Next"/>
                <a:ea typeface="Avenir Next"/>
                <a:cs typeface="Avenir Next"/>
              </a:defRPr>
            </a:pPr>
            <a:r>
              <a:rPr sz="2100" b="1">
                <a:solidFill>
                  <a:srgbClr val="ED654F"/>
                </a:solidFill>
                <a:latin typeface="Avenir Next"/>
                <a:ea typeface="Avenir Next"/>
                <a:cs typeface="Avenir Next"/>
              </a:rPr>
              <a:t>My Little Company notices the information worth keeping.</a:t>
            </a:r>
          </a:p>
        </p:txBody>
      </p:sp>
      <p:sp>
        <p:nvSpPr>
          <p:cNvPr id="3" name="s1-transcript">
            <a:extLst xmlns:a="http://schemas.openxmlformats.org/drawingml/2006/main">
              <a:ext uri="{FF2B5EF4-FFF2-40B4-BE49-F238E27FC236}">
                <a16:creationId xmlns:a16="http://schemas.microsoft.com/office/drawing/2014/main" id="{71373231-9FD7-4CB2-9499-71FB14015B90}"/>
              </a:ext>
            </a:extLst>
          </p:cNvPr>
          <p:cNvSpPr>
            <a:spLocks xmlns:a="http://schemas.openxmlformats.org/drawingml/2006/main" noGrp="1"/>
          </p:cNvSpPr>
          <p:nvPr/>
        </p:nvSpPr>
        <p:spPr>
          <a:xfrm xmlns:a="http://schemas.openxmlformats.org/drawingml/2006/main">
            <a:off x="552450" y="2209800"/>
            <a:ext cx="11087100" cy="3390900"/>
          </a:xfrm>
          <a:prstGeom xmlns:a="http://schemas.openxmlformats.org/drawingml/2006/main" prst="roundRect">
            <a:avLst>
              <a:gd name="adj" fmla="val 6180"/>
            </a:avLst>
          </a:prstGeom>
          <a:solidFill xmlns:a="http://schemas.openxmlformats.org/drawingml/2006/main">
            <a:srgbClr val="FFFFFF"/>
          </a:solidFill>
          <a:ln xmlns:a="http://schemas.openxmlformats.org/drawingml/2006/main" w="19050">
            <a:solidFill>
              <a:srgbClr val="DCE5FF"/>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4" name="s1-chat-label">
            <a:extLst xmlns:a="http://schemas.openxmlformats.org/drawingml/2006/main">
              <a:ext uri="{FF2B5EF4-FFF2-40B4-BE49-F238E27FC236}">
                <a16:creationId xmlns:a16="http://schemas.microsoft.com/office/drawing/2014/main" id="{E75CA89E-18F1-4FC7-9625-FD1DF5EA2309}"/>
              </a:ext>
            </a:extLst>
          </p:cNvPr>
          <p:cNvSpPr>
            <a:spLocks xmlns:a="http://schemas.openxmlformats.org/drawingml/2006/main" noGrp="1"/>
          </p:cNvSpPr>
          <p:nvPr/>
        </p:nvSpPr>
        <p:spPr>
          <a:xfrm xmlns:a="http://schemas.openxmlformats.org/drawingml/2006/main">
            <a:off x="876300" y="2457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746D1"/>
                </a:solidFill>
                <a:latin typeface="Avenir Next Condensed"/>
                <a:ea typeface="Avenir Next Condensed"/>
                <a:cs typeface="Avenir Next Condensed"/>
              </a:defRPr>
            </a:pPr>
            <a:r>
              <a:rPr sz="1350" b="1">
                <a:solidFill>
                  <a:srgbClr val="1746D1"/>
                </a:solidFill>
                <a:latin typeface="Avenir Next Condensed"/>
                <a:ea typeface="Avenir Next Condensed"/>
                <a:cs typeface="Avenir Next Condensed"/>
              </a:rPr>
              <a:t>MARKETING CHAT</a:t>
            </a:r>
          </a:p>
        </p:txBody>
      </p:sp>
      <p:sp>
        <p:nvSpPr>
          <p:cNvPr id="5" name="s1-assistant-message">
            <a:extLst xmlns:a="http://schemas.openxmlformats.org/drawingml/2006/main">
              <a:ext uri="{FF2B5EF4-FFF2-40B4-BE49-F238E27FC236}">
                <a16:creationId xmlns:a16="http://schemas.microsoft.com/office/drawing/2014/main" id="{6F1BFF28-4973-4CF9-8B96-D66CB15D2E6A}"/>
              </a:ext>
            </a:extLst>
          </p:cNvPr>
          <p:cNvSpPr>
            <a:spLocks xmlns:a="http://schemas.openxmlformats.org/drawingml/2006/main" noGrp="1"/>
          </p:cNvSpPr>
          <p:nvPr/>
        </p:nvSpPr>
        <p:spPr>
          <a:xfrm xmlns:a="http://schemas.openxmlformats.org/drawingml/2006/main">
            <a:off x="876300" y="2933700"/>
            <a:ext cx="4495800" cy="990600"/>
          </a:xfrm>
          <a:prstGeom xmlns:a="http://schemas.openxmlformats.org/drawingml/2006/main" prst="roundRect">
            <a:avLst>
              <a:gd name="adj" fmla="val 15385"/>
            </a:avLst>
          </a:prstGeom>
          <a:solidFill xmlns:a="http://schemas.openxmlformats.org/drawingml/2006/main">
            <a:srgbClr val="DCE5FF"/>
          </a:solidFill>
          <a:ln xmlns:a="http://schemas.openxmlformats.org/drawingml/2006/main" w="0">
            <a:noFill/>
            <a:prstDash val="solid"/>
          </a:ln>
        </p:spPr>
        <p:txBody>
          <a:bodyPr xmlns:a="http://schemas.openxmlformats.org/drawingml/2006/main" lIns="228600" tIns="133350" rIns="228600" bIns="133350" anchor="ctr">
            <a:normAutofit fontScale="92181"/>
          </a:bodyPr>
          <a:lstStyle xmlns:a="http://schemas.openxmlformats.org/drawingml/2006/main"/>
          <a:p xmlns:a="http://schemas.openxmlformats.org/drawingml/2006/main">
            <a:pPr algn="l">
              <a:defRPr sz="1800" b="0">
                <a:solidFill>
                  <a:srgbClr val="293331"/>
                </a:solidFill>
                <a:latin typeface="Avenir Next"/>
                <a:ea typeface="Avenir Next"/>
                <a:cs typeface="Avenir Next"/>
              </a:defRPr>
            </a:pPr>
            <a:r>
              <a:rPr sz="1800" b="0">
                <a:solidFill>
                  <a:srgbClr val="293331"/>
                </a:solidFill>
                <a:latin typeface="Avenir Next"/>
                <a:ea typeface="Avenir Next"/>
                <a:cs typeface="Avenir Next"/>
              </a:rPr>
              <a:t>Tuesdays are quiet. Create a promotion to bring more customers in.</a:t>
            </a:r>
          </a:p>
        </p:txBody>
      </p:sp>
      <p:sp>
        <p:nvSpPr>
          <p:cNvPr id="6" name="s1-assistant-role">
            <a:extLst xmlns:a="http://schemas.openxmlformats.org/drawingml/2006/main">
              <a:ext uri="{FF2B5EF4-FFF2-40B4-BE49-F238E27FC236}">
                <a16:creationId xmlns:a16="http://schemas.microsoft.com/office/drawing/2014/main" id="{5992BF7C-BCE2-404D-B6E8-EF57ED14126F}"/>
              </a:ext>
            </a:extLst>
          </p:cNvPr>
          <p:cNvSpPr>
            <a:spLocks xmlns:a="http://schemas.openxmlformats.org/drawingml/2006/main" noGrp="1"/>
          </p:cNvSpPr>
          <p:nvPr/>
        </p:nvSpPr>
        <p:spPr>
          <a:xfrm xmlns:a="http://schemas.openxmlformats.org/drawingml/2006/main">
            <a:off x="876300" y="27241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93331"/>
                </a:solidFill>
                <a:latin typeface="Avenir Next"/>
                <a:ea typeface="Avenir Next"/>
                <a:cs typeface="Avenir Next"/>
              </a:defRPr>
            </a:pPr>
            <a:r>
              <a:rPr sz="1050" b="1">
                <a:solidFill>
                  <a:srgbClr val="293331"/>
                </a:solidFill>
                <a:latin typeface="Avenir Next"/>
                <a:ea typeface="Avenir Next"/>
                <a:cs typeface="Avenir Next"/>
              </a:rPr>
              <a:t>OWNER</a:t>
            </a:r>
          </a:p>
        </p:txBody>
      </p:sp>
      <p:sp>
        <p:nvSpPr>
          <p:cNvPr id="7" name="s1-owner-message">
            <a:extLst xmlns:a="http://schemas.openxmlformats.org/drawingml/2006/main">
              <a:ext uri="{FF2B5EF4-FFF2-40B4-BE49-F238E27FC236}">
                <a16:creationId xmlns:a16="http://schemas.microsoft.com/office/drawing/2014/main" id="{C3A47224-676A-46EF-A965-6F99F953969D}"/>
              </a:ext>
            </a:extLst>
          </p:cNvPr>
          <p:cNvSpPr>
            <a:spLocks xmlns:a="http://schemas.openxmlformats.org/drawingml/2006/main" noGrp="1"/>
          </p:cNvSpPr>
          <p:nvPr/>
        </p:nvSpPr>
        <p:spPr>
          <a:xfrm xmlns:a="http://schemas.openxmlformats.org/drawingml/2006/main">
            <a:off x="4267200" y="4171950"/>
            <a:ext cx="6934200" cy="1123950"/>
          </a:xfrm>
          <a:prstGeom xmlns:a="http://schemas.openxmlformats.org/drawingml/2006/main" prst="roundRect">
            <a:avLst>
              <a:gd name="adj" fmla="val 13559"/>
            </a:avLst>
          </a:prstGeom>
          <a:solidFill xmlns:a="http://schemas.openxmlformats.org/drawingml/2006/main">
            <a:srgbClr val="1746D1"/>
          </a:solidFill>
          <a:ln xmlns:a="http://schemas.openxmlformats.org/drawingml/2006/main" w="0">
            <a:noFill/>
            <a:prstDash val="solid"/>
          </a:ln>
        </p:spPr>
        <p:txBody>
          <a:bodyPr xmlns:a="http://schemas.openxmlformats.org/drawingml/2006/main" lIns="266700" tIns="133350" rIns="266700" bIns="133350" anchor="ctr">
            <a:normAutofit fontScale="98510"/>
          </a:bodyPr>
          <a:lstStyle xmlns:a="http://schemas.openxmlformats.org/drawingml/2006/main"/>
          <a:p xmlns:a="http://schemas.openxmlformats.org/drawingml/2006/main">
            <a:pPr algn="l">
              <a:defRPr sz="1875" b="1">
                <a:solidFill>
                  <a:srgbClr val="FAF7EF"/>
                </a:solidFill>
                <a:latin typeface="Avenir Next"/>
                <a:ea typeface="Avenir Next"/>
                <a:cs typeface="Avenir Next"/>
              </a:defRPr>
            </a:pPr>
            <a:r>
              <a:rPr sz="1875" b="1">
                <a:solidFill>
                  <a:srgbClr val="FAF7EF"/>
                </a:solidFill>
                <a:latin typeface="Avenir Next"/>
                <a:ea typeface="Avenir Next"/>
                <a:cs typeface="Avenir Next"/>
              </a:rPr>
              <a:t>We never discount more than 15%. We prefer a free add-on because we want to maintain a premium image.</a:t>
            </a:r>
          </a:p>
        </p:txBody>
      </p:sp>
      <p:sp>
        <p:nvSpPr>
          <p:cNvPr id="8" name="s1-owner-role">
            <a:extLst xmlns:a="http://schemas.openxmlformats.org/drawingml/2006/main">
              <a:ext uri="{FF2B5EF4-FFF2-40B4-BE49-F238E27FC236}">
                <a16:creationId xmlns:a16="http://schemas.microsoft.com/office/drawing/2014/main" id="{C3EC682E-6B17-4011-A31B-F05D9B7D4946}"/>
              </a:ext>
            </a:extLst>
          </p:cNvPr>
          <p:cNvSpPr>
            <a:spLocks xmlns:a="http://schemas.openxmlformats.org/drawingml/2006/main" noGrp="1"/>
          </p:cNvSpPr>
          <p:nvPr/>
        </p:nvSpPr>
        <p:spPr>
          <a:xfrm xmlns:a="http://schemas.openxmlformats.org/drawingml/2006/main">
            <a:off x="4267200" y="394335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ED654F"/>
                </a:solidFill>
                <a:latin typeface="Avenir Next"/>
                <a:ea typeface="Avenir Next"/>
                <a:cs typeface="Avenir Next"/>
              </a:defRPr>
            </a:pPr>
            <a:r>
              <a:rPr sz="1050" b="1">
                <a:solidFill>
                  <a:srgbClr val="ED654F"/>
                </a:solidFill>
                <a:latin typeface="Avenir Next"/>
                <a:ea typeface="Avenir Next"/>
                <a:cs typeface="Avenir Next"/>
              </a:rPr>
              <a:t>OWNER TEACHES THE COMPANY</a:t>
            </a:r>
          </a:p>
        </p:txBody>
      </p:sp>
      <p:sp>
        <p:nvSpPr>
          <p:cNvPr id="9" name="s1-durable-label">
            <a:extLst xmlns:a="http://schemas.openxmlformats.org/drawingml/2006/main">
              <a:ext uri="{FF2B5EF4-FFF2-40B4-BE49-F238E27FC236}">
                <a16:creationId xmlns:a16="http://schemas.microsoft.com/office/drawing/2014/main" id="{CCD36019-902C-443A-AF9C-1BB46F610B37}"/>
              </a:ext>
            </a:extLst>
          </p:cNvPr>
          <p:cNvSpPr>
            <a:spLocks xmlns:a="http://schemas.openxmlformats.org/drawingml/2006/main" noGrp="1"/>
          </p:cNvSpPr>
          <p:nvPr/>
        </p:nvSpPr>
        <p:spPr>
          <a:xfrm xmlns:a="http://schemas.openxmlformats.org/drawingml/2006/main">
            <a:off x="7810500" y="5448300"/>
            <a:ext cx="3390900" cy="457200"/>
          </a:xfrm>
          <a:prstGeom xmlns:a="http://schemas.openxmlformats.org/drawingml/2006/main" prst="roundRect">
            <a:avLst>
              <a:gd name="adj" fmla="val 16667"/>
            </a:avLst>
          </a:prstGeom>
          <a:solidFill xmlns:a="http://schemas.openxmlformats.org/drawingml/2006/main">
            <a:srgbClr val="F4D77A"/>
          </a:solidFill>
          <a:ln xmlns:a="http://schemas.openxmlformats.org/drawingml/2006/main" w="0">
            <a:noFill/>
            <a:prstDash val="solid"/>
          </a:ln>
        </p:spPr>
        <p:txBody>
          <a:bodyPr xmlns:a="http://schemas.openxmlformats.org/drawingml/2006/main" lIns="114300" tIns="38100" rIns="114300" bIns="38100" anchor="ctr">
            <a:normAutofit fontScale="100000"/>
          </a:bodyPr>
          <a:lstStyle xmlns:a="http://schemas.openxmlformats.org/drawingml/2006/main"/>
          <a:p xmlns:a="http://schemas.openxmlformats.org/drawingml/2006/main">
            <a:pPr algn="ctr">
              <a:defRPr sz="1425" b="1">
                <a:solidFill>
                  <a:srgbClr val="293331"/>
                </a:solidFill>
                <a:latin typeface="Avenir Next"/>
                <a:ea typeface="Avenir Next"/>
                <a:cs typeface="Avenir Next"/>
              </a:defRPr>
            </a:pPr>
            <a:r>
              <a:rPr sz="1425" b="1">
                <a:solidFill>
                  <a:srgbClr val="293331"/>
                </a:solidFill>
                <a:latin typeface="Avenir Next"/>
                <a:ea typeface="Avenir Next"/>
                <a:cs typeface="Avenir Next"/>
              </a:rPr>
              <a:t>This could help the company later.</a:t>
            </a:r>
          </a:p>
        </p:txBody>
      </p:sp>
      <p:sp>
        <p:nvSpPr>
          <p:cNvPr id="10" name="footer-brand-2">
            <a:extLst xmlns:a="http://schemas.openxmlformats.org/drawingml/2006/main">
              <a:ext uri="{FF2B5EF4-FFF2-40B4-BE49-F238E27FC236}">
                <a16:creationId xmlns:a16="http://schemas.microsoft.com/office/drawing/2014/main" id="{3E4DB7CD-91C2-46FE-BD9D-F314F6BAFA4F}"/>
              </a:ext>
            </a:extLst>
          </p:cNvPr>
          <p:cNvSpPr>
            <a:spLocks xmlns:a="http://schemas.openxmlformats.org/drawingml/2006/main" noGrp="1"/>
          </p:cNvSpPr>
          <p:nvPr/>
        </p:nvSpPr>
        <p:spPr>
          <a:xfrm xmlns:a="http://schemas.openxmlformats.org/drawingml/2006/main">
            <a:off x="552450" y="64198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746D1"/>
                </a:solidFill>
                <a:latin typeface="Avenir Next Condensed"/>
                <a:ea typeface="Avenir Next Condensed"/>
                <a:cs typeface="Avenir Next Condensed"/>
              </a:defRPr>
            </a:pPr>
            <a:r>
              <a:rPr sz="1125" b="1">
                <a:solidFill>
                  <a:srgbClr val="1746D1"/>
                </a:solidFill>
                <a:latin typeface="Avenir Next Condensed"/>
                <a:ea typeface="Avenir Next Condensed"/>
                <a:cs typeface="Avenir Next Condensed"/>
              </a:rPr>
              <a:t>MY LITTLE COMPANY</a:t>
            </a:r>
          </a:p>
        </p:txBody>
      </p:sp>
      <p:sp>
        <p:nvSpPr>
          <p:cNvPr id="11" name="footer-page-2">
            <a:extLst xmlns:a="http://schemas.openxmlformats.org/drawingml/2006/main">
              <a:ext uri="{FF2B5EF4-FFF2-40B4-BE49-F238E27FC236}">
                <a16:creationId xmlns:a16="http://schemas.microsoft.com/office/drawing/2014/main" id="{1F73740A-BE1E-4B20-ACEA-2E2C13F64BC8}"/>
              </a:ext>
            </a:extLst>
          </p:cNvPr>
          <p:cNvSpPr>
            <a:spLocks xmlns:a="http://schemas.openxmlformats.org/drawingml/2006/main" noGrp="1"/>
          </p:cNvSpPr>
          <p:nvPr/>
        </p:nvSpPr>
        <p:spPr>
          <a:xfrm xmlns:a="http://schemas.openxmlformats.org/drawingml/2006/main">
            <a:off x="11144250" y="64198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93331"/>
                </a:solidFill>
                <a:latin typeface="Avenir Next"/>
                <a:ea typeface="Avenir Next"/>
                <a:cs typeface="Avenir Next"/>
              </a:defRPr>
            </a:pPr>
            <a:r>
              <a:rPr sz="1050" b="1">
                <a:solidFill>
                  <a:srgbClr val="293331"/>
                </a:solidFill>
                <a:latin typeface="Avenir Next"/>
                <a:ea typeface="Avenir Next"/>
                <a:cs typeface="Avenir Next"/>
              </a:rPr>
              <a:t>02</a:t>
            </a:r>
          </a:p>
        </p:txBody>
      </p:sp>
    </p:spTree>
    <p:extLst>
      <p:ext uri="{BB962C8B-B14F-4D97-AF65-F5344CB8AC3E}">
        <p14:creationId xmlns:p14="http://schemas.microsoft.com/office/powerpoint/2010/main" val="364748546"/>
      </p:ext>
    </p:extLst>
  </p:cSld>
</p:sld>
</file>

<file path=ppt/slides/slide3.xml><?xml version="1.0" encoding="utf-8"?>
<p:sld xmlns:p="http://schemas.openxmlformats.org/presentationml/2006/main">
  <p:cSld>
    <p:bg>
      <p:bgPr>
        <a:solidFill xmlns:a="http://schemas.openxmlformats.org/drawingml/2006/main">
          <a:srgbClr val="12318A"/>
        </a:solidFill>
      </p:bgPr>
    </p:bg>
    <p:spTree>
      <p:nvGrpSpPr>
        <p:cNvPr id="1" name=""/>
        <p:cNvGrpSpPr/>
        <p:nvPr/>
      </p:nvGrpSpPr>
      <p:grpSpPr>
        <a:xfrm xmlns:a="http://schemas.openxmlformats.org/drawingml/2006/main"/>
      </p:grpSpPr>
      <p:sp>
        <p:nvSpPr>
          <p:cNvPr id="1" name="s2-title">
            <a:extLst xmlns:a="http://schemas.openxmlformats.org/drawingml/2006/main">
              <a:ext uri="{FF2B5EF4-FFF2-40B4-BE49-F238E27FC236}">
                <a16:creationId xmlns:a16="http://schemas.microsoft.com/office/drawing/2014/main" id="{768F08AB-C2FB-4A9F-A3D2-BE8ECC17D76C}"/>
              </a:ext>
            </a:extLst>
          </p:cNvPr>
          <p:cNvSpPr>
            <a:spLocks xmlns:a="http://schemas.openxmlformats.org/drawingml/2006/main" noGrp="1"/>
          </p:cNvSpPr>
          <p:nvPr/>
        </p:nvSpPr>
        <p:spPr>
          <a:xfrm xmlns:a="http://schemas.openxmlformats.org/drawingml/2006/main">
            <a:off x="552450" y="47625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750" b="1">
                <a:solidFill>
                  <a:srgbClr val="FAF7EF"/>
                </a:solidFill>
                <a:latin typeface="Avenir Next Condensed"/>
                <a:ea typeface="Avenir Next Condensed"/>
                <a:cs typeface="Avenir Next Condensed"/>
              </a:defRPr>
            </a:pPr>
            <a:r>
              <a:rPr sz="3750" b="1">
                <a:solidFill>
                  <a:srgbClr val="FAF7EF"/>
                </a:solidFill>
                <a:latin typeface="Avenir Next Condensed"/>
                <a:ea typeface="Avenir Next Condensed"/>
                <a:cs typeface="Avenir Next Condensed"/>
              </a:rPr>
              <a:t>My Little Company saves knowledge, not chats.</a:t>
            </a:r>
          </a:p>
        </p:txBody>
      </p:sp>
      <p:sp>
        <p:nvSpPr>
          <p:cNvPr id="2" name="s2-trust">
            <a:extLst xmlns:a="http://schemas.openxmlformats.org/drawingml/2006/main">
              <a:ext uri="{FF2B5EF4-FFF2-40B4-BE49-F238E27FC236}">
                <a16:creationId xmlns:a16="http://schemas.microsoft.com/office/drawing/2014/main" id="{BA2000B3-9944-4C67-BFA1-FAC95F29FABC}"/>
              </a:ext>
            </a:extLst>
          </p:cNvPr>
          <p:cNvSpPr>
            <a:spLocks xmlns:a="http://schemas.openxmlformats.org/drawingml/2006/main" noGrp="1"/>
          </p:cNvSpPr>
          <p:nvPr/>
        </p:nvSpPr>
        <p:spPr>
          <a:xfrm xmlns:a="http://schemas.openxmlformats.org/drawingml/2006/main">
            <a:off x="590550" y="1352550"/>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4D77A"/>
                </a:solidFill>
                <a:latin typeface="Avenir Next"/>
                <a:ea typeface="Avenir Next"/>
                <a:cs typeface="Avenir Next"/>
              </a:defRPr>
            </a:pPr>
            <a:r>
              <a:rPr sz="2025" b="1">
                <a:solidFill>
                  <a:srgbClr val="F4D77A"/>
                </a:solidFill>
                <a:latin typeface="Avenir Next"/>
                <a:ea typeface="Avenir Next"/>
                <a:cs typeface="Avenir Next"/>
              </a:rPr>
              <a:t>You decide what becomes company truth.</a:t>
            </a:r>
          </a:p>
        </p:txBody>
      </p:sp>
      <p:sp>
        <p:nvSpPr>
          <p:cNvPr id="3" name="s2-arrow-0">
            <a:extLst xmlns:a="http://schemas.openxmlformats.org/drawingml/2006/main">
              <a:ext uri="{FF2B5EF4-FFF2-40B4-BE49-F238E27FC236}">
                <a16:creationId xmlns:a16="http://schemas.microsoft.com/office/drawing/2014/main" id="{C722A59A-F2EC-43C9-B96E-3EC4F202789B}"/>
              </a:ext>
            </a:extLst>
          </p:cNvPr>
          <p:cNvSpPr>
            <a:spLocks xmlns:a="http://schemas.openxmlformats.org/drawingml/2006/main" noGrp="1"/>
          </p:cNvSpPr>
          <p:nvPr/>
        </p:nvSpPr>
        <p:spPr>
          <a:xfrm xmlns:a="http://schemas.openxmlformats.org/drawingml/2006/main">
            <a:off x="3352800" y="3562350"/>
            <a:ext cx="1104900" cy="419100"/>
          </a:xfrm>
          <a:prstGeom xmlns:a="http://schemas.openxmlformats.org/drawingml/2006/main" prst="rightArrow">
            <a:avLst/>
          </a:prstGeom>
          <a:solidFill xmlns:a="http://schemas.openxmlformats.org/drawingml/2006/main">
            <a:srgbClr val="1746D1"/>
          </a:solidFill>
          <a:ln xmlns:a="http://schemas.openxmlformats.org/drawingml/2006/main" w="0">
            <a:noFill/>
            <a:prstDash val="solid"/>
          </a:ln>
        </p:spPr>
      </p:sp>
      <p:sp>
        <p:nvSpPr>
          <p:cNvPr id="4" name="s2-arrow-1">
            <a:extLst xmlns:a="http://schemas.openxmlformats.org/drawingml/2006/main">
              <a:ext uri="{FF2B5EF4-FFF2-40B4-BE49-F238E27FC236}">
                <a16:creationId xmlns:a16="http://schemas.microsoft.com/office/drawing/2014/main" id="{20ACB2C1-B34F-4B76-B42C-BF6951B73D21}"/>
              </a:ext>
            </a:extLst>
          </p:cNvPr>
          <p:cNvSpPr>
            <a:spLocks xmlns:a="http://schemas.openxmlformats.org/drawingml/2006/main" noGrp="1"/>
          </p:cNvSpPr>
          <p:nvPr/>
        </p:nvSpPr>
        <p:spPr>
          <a:xfrm xmlns:a="http://schemas.openxmlformats.org/drawingml/2006/main">
            <a:off x="7029450" y="3562350"/>
            <a:ext cx="1104900" cy="419100"/>
          </a:xfrm>
          <a:prstGeom xmlns:a="http://schemas.openxmlformats.org/drawingml/2006/main" prst="rightArrow">
            <a:avLst/>
          </a:prstGeom>
          <a:solidFill xmlns:a="http://schemas.openxmlformats.org/drawingml/2006/main">
            <a:srgbClr val="1746D1"/>
          </a:solidFill>
          <a:ln xmlns:a="http://schemas.openxmlformats.org/drawingml/2006/main" w="0">
            <a:noFill/>
            <a:prstDash val="solid"/>
          </a:ln>
        </p:spPr>
      </p:sp>
      <p:sp>
        <p:nvSpPr>
          <p:cNvPr id="5" name="s2-message">
            <a:extLst xmlns:a="http://schemas.openxmlformats.org/drawingml/2006/main">
              <a:ext uri="{FF2B5EF4-FFF2-40B4-BE49-F238E27FC236}">
                <a16:creationId xmlns:a16="http://schemas.microsoft.com/office/drawing/2014/main" id="{F825D69E-F400-4AFC-ACE5-F06DF2E44DA4}"/>
              </a:ext>
            </a:extLst>
          </p:cNvPr>
          <p:cNvSpPr>
            <a:spLocks xmlns:a="http://schemas.openxmlformats.org/drawingml/2006/main" noGrp="1"/>
          </p:cNvSpPr>
          <p:nvPr/>
        </p:nvSpPr>
        <p:spPr>
          <a:xfrm xmlns:a="http://schemas.openxmlformats.org/drawingml/2006/main">
            <a:off x="552450" y="2343150"/>
            <a:ext cx="3048000" cy="2724150"/>
          </a:xfrm>
          <a:prstGeom xmlns:a="http://schemas.openxmlformats.org/drawingml/2006/main" prst="roundRect">
            <a:avLst>
              <a:gd name="adj" fmla="val 6993"/>
            </a:avLst>
          </a:prstGeom>
          <a:solidFill xmlns:a="http://schemas.openxmlformats.org/drawingml/2006/main">
            <a:srgbClr val="FAF7EF"/>
          </a:solidFill>
          <a:ln xmlns:a="http://schemas.openxmlformats.org/drawingml/2006/main" w="0">
            <a:noFill/>
            <a:prstDash val="solid"/>
          </a:ln>
        </p:spPr>
      </p:sp>
      <p:sp>
        <p:nvSpPr>
          <p:cNvPr id="6" name="s2-message-label">
            <a:extLst xmlns:a="http://schemas.openxmlformats.org/drawingml/2006/main">
              <a:ext uri="{FF2B5EF4-FFF2-40B4-BE49-F238E27FC236}">
                <a16:creationId xmlns:a16="http://schemas.microsoft.com/office/drawing/2014/main" id="{55E16AAD-094E-42BF-8085-D2935BE877C2}"/>
              </a:ext>
            </a:extLst>
          </p:cNvPr>
          <p:cNvSpPr>
            <a:spLocks xmlns:a="http://schemas.openxmlformats.org/drawingml/2006/main" noGrp="1"/>
          </p:cNvSpPr>
          <p:nvPr/>
        </p:nvSpPr>
        <p:spPr>
          <a:xfrm xmlns:a="http://schemas.openxmlformats.org/drawingml/2006/main">
            <a:off x="819150" y="26098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46D1"/>
                </a:solidFill>
                <a:latin typeface="Avenir Next Condensed"/>
                <a:ea typeface="Avenir Next Condensed"/>
                <a:cs typeface="Avenir Next Condensed"/>
              </a:defRPr>
            </a:pPr>
            <a:r>
              <a:rPr sz="1650" b="1">
                <a:solidFill>
                  <a:srgbClr val="1746D1"/>
                </a:solidFill>
                <a:latin typeface="Avenir Next Condensed"/>
                <a:ea typeface="Avenir Next Condensed"/>
                <a:cs typeface="Avenir Next Condensed"/>
              </a:rPr>
              <a:t>1  CHAT</a:t>
            </a:r>
          </a:p>
        </p:txBody>
      </p:sp>
      <p:sp>
        <p:nvSpPr>
          <p:cNvPr id="7" name="s2-message-copy">
            <a:extLst xmlns:a="http://schemas.openxmlformats.org/drawingml/2006/main">
              <a:ext uri="{FF2B5EF4-FFF2-40B4-BE49-F238E27FC236}">
                <a16:creationId xmlns:a16="http://schemas.microsoft.com/office/drawing/2014/main" id="{476A5E58-2686-4B53-BBB6-109933CF9DED}"/>
              </a:ext>
            </a:extLst>
          </p:cNvPr>
          <p:cNvSpPr>
            <a:spLocks xmlns:a="http://schemas.openxmlformats.org/drawingml/2006/main" noGrp="1"/>
          </p:cNvSpPr>
          <p:nvPr/>
        </p:nvSpPr>
        <p:spPr>
          <a:xfrm xmlns:a="http://schemas.openxmlformats.org/drawingml/2006/main">
            <a:off x="819150" y="3162300"/>
            <a:ext cx="24765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defRPr sz="2025" b="1">
                <a:solidFill>
                  <a:srgbClr val="293331"/>
                </a:solidFill>
                <a:latin typeface="Avenir Next"/>
                <a:ea typeface="Avenir Next"/>
                <a:cs typeface="Avenir Next"/>
              </a:defRPr>
            </a:pPr>
            <a:r>
              <a:rPr sz="2025" b="1">
                <a:solidFill>
                  <a:srgbClr val="293331"/>
                </a:solidFill>
                <a:latin typeface="Avenir Next"/>
                <a:ea typeface="Avenir Next"/>
                <a:cs typeface="Avenir Next"/>
              </a:rPr>
              <a:t>“Never discount more than 15%. Prefer a free add-on.”</a:t>
            </a:r>
          </a:p>
        </p:txBody>
      </p:sp>
      <p:sp>
        <p:nvSpPr>
          <p:cNvPr id="8" name="s2-message-note">
            <a:extLst xmlns:a="http://schemas.openxmlformats.org/drawingml/2006/main">
              <a:ext uri="{FF2B5EF4-FFF2-40B4-BE49-F238E27FC236}">
                <a16:creationId xmlns:a16="http://schemas.microsoft.com/office/drawing/2014/main" id="{23BE000B-823E-4347-B150-B56735FF30BB}"/>
              </a:ext>
            </a:extLst>
          </p:cNvPr>
          <p:cNvSpPr>
            <a:spLocks xmlns:a="http://schemas.openxmlformats.org/drawingml/2006/main" noGrp="1"/>
          </p:cNvSpPr>
          <p:nvPr/>
        </p:nvSpPr>
        <p:spPr>
          <a:xfrm xmlns:a="http://schemas.openxmlformats.org/drawingml/2006/main">
            <a:off x="819150" y="45529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D654F"/>
                </a:solidFill>
                <a:latin typeface="Avenir Next"/>
                <a:ea typeface="Avenir Next"/>
                <a:cs typeface="Avenir Next"/>
              </a:defRPr>
            </a:pPr>
            <a:r>
              <a:rPr sz="1350" b="1">
                <a:solidFill>
                  <a:srgbClr val="ED654F"/>
                </a:solidFill>
                <a:latin typeface="Avenir Next"/>
                <a:ea typeface="Avenir Next"/>
                <a:cs typeface="Avenir Next"/>
              </a:rPr>
              <a:t>Useful sentence</a:t>
            </a:r>
          </a:p>
        </p:txBody>
      </p:sp>
      <p:sp>
        <p:nvSpPr>
          <p:cNvPr id="9" name="s2-suggestion">
            <a:extLst xmlns:a="http://schemas.openxmlformats.org/drawingml/2006/main">
              <a:ext uri="{FF2B5EF4-FFF2-40B4-BE49-F238E27FC236}">
                <a16:creationId xmlns:a16="http://schemas.microsoft.com/office/drawing/2014/main" id="{78A5A174-A102-472B-9540-DF91A4E7A898}"/>
              </a:ext>
            </a:extLst>
          </p:cNvPr>
          <p:cNvSpPr>
            <a:spLocks xmlns:a="http://schemas.openxmlformats.org/drawingml/2006/main" noGrp="1"/>
          </p:cNvSpPr>
          <p:nvPr/>
        </p:nvSpPr>
        <p:spPr>
          <a:xfrm xmlns:a="http://schemas.openxmlformats.org/drawingml/2006/main">
            <a:off x="4229100" y="2114550"/>
            <a:ext cx="3048000" cy="3181350"/>
          </a:xfrm>
          <a:prstGeom xmlns:a="http://schemas.openxmlformats.org/drawingml/2006/main" prst="roundRect">
            <a:avLst>
              <a:gd name="adj" fmla="val 6250"/>
            </a:avLst>
          </a:prstGeom>
          <a:solidFill xmlns:a="http://schemas.openxmlformats.org/drawingml/2006/main">
            <a:srgbClr val="F4D77A"/>
          </a:solidFill>
          <a:ln xmlns:a="http://schemas.openxmlformats.org/drawingml/2006/main" w="0">
            <a:noFill/>
            <a:prstDash val="solid"/>
          </a:ln>
        </p:spPr>
      </p:sp>
      <p:sp>
        <p:nvSpPr>
          <p:cNvPr id="10" name="s2-suggestion-label">
            <a:extLst xmlns:a="http://schemas.openxmlformats.org/drawingml/2006/main">
              <a:ext uri="{FF2B5EF4-FFF2-40B4-BE49-F238E27FC236}">
                <a16:creationId xmlns:a16="http://schemas.microsoft.com/office/drawing/2014/main" id="{D20F8D49-B017-40A1-8A8B-32C506FADA88}"/>
              </a:ext>
            </a:extLst>
          </p:cNvPr>
          <p:cNvSpPr>
            <a:spLocks xmlns:a="http://schemas.openxmlformats.org/drawingml/2006/main" noGrp="1"/>
          </p:cNvSpPr>
          <p:nvPr/>
        </p:nvSpPr>
        <p:spPr>
          <a:xfrm xmlns:a="http://schemas.openxmlformats.org/drawingml/2006/main">
            <a:off x="4495800" y="23812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293331"/>
                </a:solidFill>
                <a:latin typeface="Avenir Next Condensed"/>
                <a:ea typeface="Avenir Next Condensed"/>
                <a:cs typeface="Avenir Next Condensed"/>
              </a:defRPr>
            </a:pPr>
            <a:r>
              <a:rPr sz="1650" b="1">
                <a:solidFill>
                  <a:srgbClr val="293331"/>
                </a:solidFill>
                <a:latin typeface="Avenir Next Condensed"/>
                <a:ea typeface="Avenir Next Condensed"/>
                <a:cs typeface="Avenir Next Condensed"/>
              </a:rPr>
              <a:t>2  SUGGESTED KNOWLEDGE</a:t>
            </a:r>
          </a:p>
        </p:txBody>
      </p:sp>
      <p:sp>
        <p:nvSpPr>
          <p:cNvPr id="11" name="s2-suggestion-title">
            <a:extLst xmlns:a="http://schemas.openxmlformats.org/drawingml/2006/main">
              <a:ext uri="{FF2B5EF4-FFF2-40B4-BE49-F238E27FC236}">
                <a16:creationId xmlns:a16="http://schemas.microsoft.com/office/drawing/2014/main" id="{3843636E-A847-4885-8B55-43B0F7CF3235}"/>
              </a:ext>
            </a:extLst>
          </p:cNvPr>
          <p:cNvSpPr>
            <a:spLocks xmlns:a="http://schemas.openxmlformats.org/drawingml/2006/main" noGrp="1"/>
          </p:cNvSpPr>
          <p:nvPr/>
        </p:nvSpPr>
        <p:spPr>
          <a:xfrm xmlns:a="http://schemas.openxmlformats.org/drawingml/2006/main">
            <a:off x="4495800" y="3048000"/>
            <a:ext cx="2495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93331"/>
                </a:solidFill>
                <a:latin typeface="Avenir Next"/>
                <a:ea typeface="Avenir Next"/>
                <a:cs typeface="Avenir Next"/>
              </a:defRPr>
            </a:pPr>
            <a:r>
              <a:rPr sz="2025" b="1">
                <a:solidFill>
                  <a:srgbClr val="293331"/>
                </a:solidFill>
                <a:latin typeface="Avenir Next"/>
                <a:ea typeface="Avenir Next"/>
                <a:cs typeface="Avenir Next"/>
              </a:rPr>
              <a:t>Promotional discounts must not exceed 15%</a:t>
            </a:r>
          </a:p>
        </p:txBody>
      </p:sp>
      <p:sp>
        <p:nvSpPr>
          <p:cNvPr id="12" name="s2-suggestion-meta">
            <a:extLst xmlns:a="http://schemas.openxmlformats.org/drawingml/2006/main">
              <a:ext uri="{FF2B5EF4-FFF2-40B4-BE49-F238E27FC236}">
                <a16:creationId xmlns:a16="http://schemas.microsoft.com/office/drawing/2014/main" id="{3E6346AB-3D69-42C9-8174-D2473099BB05}"/>
              </a:ext>
            </a:extLst>
          </p:cNvPr>
          <p:cNvSpPr>
            <a:spLocks xmlns:a="http://schemas.openxmlformats.org/drawingml/2006/main" noGrp="1"/>
          </p:cNvSpPr>
          <p:nvPr/>
        </p:nvSpPr>
        <p:spPr>
          <a:xfrm xmlns:a="http://schemas.openxmlformats.org/drawingml/2006/main">
            <a:off x="4495800" y="4210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93331"/>
                </a:solidFill>
                <a:latin typeface="Avenir Next"/>
                <a:ea typeface="Avenir Next"/>
                <a:cs typeface="Avenir Next"/>
              </a:defRPr>
            </a:pPr>
            <a:r>
              <a:rPr sz="1350" b="0">
                <a:solidFill>
                  <a:srgbClr val="293331"/>
                </a:solidFill>
                <a:latin typeface="Avenir Next"/>
                <a:ea typeface="Avenir Next"/>
                <a:cs typeface="Avenir Next"/>
              </a:rPr>
              <a:t>Why · source · roles</a:t>
            </a:r>
          </a:p>
        </p:txBody>
      </p:sp>
      <p:sp>
        <p:nvSpPr>
          <p:cNvPr id="13" name="s2-approve">
            <a:extLst xmlns:a="http://schemas.openxmlformats.org/drawingml/2006/main">
              <a:ext uri="{FF2B5EF4-FFF2-40B4-BE49-F238E27FC236}">
                <a16:creationId xmlns:a16="http://schemas.microsoft.com/office/drawing/2014/main" id="{68EA5791-517C-45E1-B3B0-EC81C1453D13}"/>
              </a:ext>
            </a:extLst>
          </p:cNvPr>
          <p:cNvSpPr>
            <a:spLocks xmlns:a="http://schemas.openxmlformats.org/drawingml/2006/main" noGrp="1"/>
          </p:cNvSpPr>
          <p:nvPr/>
        </p:nvSpPr>
        <p:spPr>
          <a:xfrm xmlns:a="http://schemas.openxmlformats.org/drawingml/2006/main">
            <a:off x="4495800" y="4705350"/>
            <a:ext cx="1257300" cy="419100"/>
          </a:xfrm>
          <a:prstGeom xmlns:a="http://schemas.openxmlformats.org/drawingml/2006/main" prst="roundRect">
            <a:avLst>
              <a:gd name="adj" fmla="val 18182"/>
            </a:avLst>
          </a:prstGeom>
          <a:solidFill xmlns:a="http://schemas.openxmlformats.org/drawingml/2006/main">
            <a:srgbClr val="ED654F"/>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AF7EF"/>
                </a:solidFill>
                <a:latin typeface="Avenir Next"/>
                <a:ea typeface="Avenir Next"/>
                <a:cs typeface="Avenir Next"/>
              </a:defRPr>
            </a:pPr>
            <a:r>
              <a:rPr sz="1350" b="1">
                <a:solidFill>
                  <a:srgbClr val="FAF7EF"/>
                </a:solidFill>
                <a:latin typeface="Avenir Next"/>
                <a:ea typeface="Avenir Next"/>
                <a:cs typeface="Avenir Next"/>
              </a:rPr>
              <a:t>APPROVE</a:t>
            </a:r>
          </a:p>
        </p:txBody>
      </p:sp>
      <p:sp>
        <p:nvSpPr>
          <p:cNvPr id="14" name="s2-edit">
            <a:extLst xmlns:a="http://schemas.openxmlformats.org/drawingml/2006/main">
              <a:ext uri="{FF2B5EF4-FFF2-40B4-BE49-F238E27FC236}">
                <a16:creationId xmlns:a16="http://schemas.microsoft.com/office/drawing/2014/main" id="{31F10DF2-CC7D-4235-B797-E73BB37AD766}"/>
              </a:ext>
            </a:extLst>
          </p:cNvPr>
          <p:cNvSpPr>
            <a:spLocks xmlns:a="http://schemas.openxmlformats.org/drawingml/2006/main" noGrp="1"/>
          </p:cNvSpPr>
          <p:nvPr/>
        </p:nvSpPr>
        <p:spPr>
          <a:xfrm xmlns:a="http://schemas.openxmlformats.org/drawingml/2006/main">
            <a:off x="5848350" y="4705350"/>
            <a:ext cx="1162050" cy="419100"/>
          </a:xfrm>
          <a:prstGeom xmlns:a="http://schemas.openxmlformats.org/drawingml/2006/main" prst="roundRect">
            <a:avLst>
              <a:gd name="adj" fmla="val 18182"/>
            </a:avLst>
          </a:prstGeom>
          <a:solidFill xmlns:a="http://schemas.openxmlformats.org/drawingml/2006/main">
            <a:srgbClr val="FAF7EF"/>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293331"/>
                </a:solidFill>
                <a:latin typeface="Avenir Next"/>
                <a:ea typeface="Avenir Next"/>
                <a:cs typeface="Avenir Next"/>
              </a:defRPr>
            </a:pPr>
            <a:r>
              <a:rPr sz="1350" b="1">
                <a:solidFill>
                  <a:srgbClr val="293331"/>
                </a:solidFill>
                <a:latin typeface="Avenir Next"/>
                <a:ea typeface="Avenir Next"/>
                <a:cs typeface="Avenir Next"/>
              </a:rPr>
              <a:t>EDIT</a:t>
            </a:r>
          </a:p>
        </p:txBody>
      </p:sp>
      <p:sp>
        <p:nvSpPr>
          <p:cNvPr id="15" name="s2-playbook">
            <a:extLst xmlns:a="http://schemas.openxmlformats.org/drawingml/2006/main">
              <a:ext uri="{FF2B5EF4-FFF2-40B4-BE49-F238E27FC236}">
                <a16:creationId xmlns:a16="http://schemas.microsoft.com/office/drawing/2014/main" id="{29C01160-7407-4771-A24F-703D1824FD90}"/>
              </a:ext>
            </a:extLst>
          </p:cNvPr>
          <p:cNvSpPr>
            <a:spLocks xmlns:a="http://schemas.openxmlformats.org/drawingml/2006/main" noGrp="1"/>
          </p:cNvSpPr>
          <p:nvPr/>
        </p:nvSpPr>
        <p:spPr>
          <a:xfrm xmlns:a="http://schemas.openxmlformats.org/drawingml/2006/main">
            <a:off x="7905750" y="2343150"/>
            <a:ext cx="3733800" cy="2724150"/>
          </a:xfrm>
          <a:prstGeom xmlns:a="http://schemas.openxmlformats.org/drawingml/2006/main" prst="roundRect">
            <a:avLst>
              <a:gd name="adj" fmla="val 6993"/>
            </a:avLst>
          </a:prstGeom>
          <a:solidFill xmlns:a="http://schemas.openxmlformats.org/drawingml/2006/main">
            <a:srgbClr val="FAF7EF"/>
          </a:solidFill>
          <a:ln xmlns:a="http://schemas.openxmlformats.org/drawingml/2006/main" w="0">
            <a:no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4d4d4b39f71e4089"/>
          <a:stretch xmlns:a="http://schemas.openxmlformats.org/drawingml/2006/main"/>
        </p:blipFill>
        <p:spPr>
          <a:xfrm xmlns:a="http://schemas.openxmlformats.org/drawingml/2006/main">
            <a:off x="8172450" y="2609850"/>
            <a:ext cx="742950" cy="742950"/>
          </a:xfrm>
          <a:prstGeom xmlns:a="http://schemas.openxmlformats.org/drawingml/2006/main" prst="roundRect">
            <a:avLst>
              <a:gd name="adj" fmla="val 20513"/>
            </a:avLst>
          </a:prstGeom>
        </p:spPr>
      </p:pic>
      <p:sp>
        <p:nvSpPr>
          <p:cNvPr id="17" name="s2-playbook-label">
            <a:extLst xmlns:a="http://schemas.openxmlformats.org/drawingml/2006/main">
              <a:ext uri="{FF2B5EF4-FFF2-40B4-BE49-F238E27FC236}">
                <a16:creationId xmlns:a16="http://schemas.microsoft.com/office/drawing/2014/main" id="{77C5F1FE-9748-4535-BAB4-69EB1AB8C1B8}"/>
              </a:ext>
            </a:extLst>
          </p:cNvPr>
          <p:cNvSpPr>
            <a:spLocks xmlns:a="http://schemas.openxmlformats.org/drawingml/2006/main" noGrp="1"/>
          </p:cNvSpPr>
          <p:nvPr/>
        </p:nvSpPr>
        <p:spPr>
          <a:xfrm xmlns:a="http://schemas.openxmlformats.org/drawingml/2006/main">
            <a:off x="9105900" y="264795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46D1"/>
                </a:solidFill>
                <a:latin typeface="Avenir Next Condensed"/>
                <a:ea typeface="Avenir Next Condensed"/>
                <a:cs typeface="Avenir Next Condensed"/>
              </a:defRPr>
            </a:pPr>
            <a:r>
              <a:rPr sz="1575" b="1">
                <a:solidFill>
                  <a:srgbClr val="1746D1"/>
                </a:solidFill>
                <a:latin typeface="Avenir Next Condensed"/>
                <a:ea typeface="Avenir Next Condensed"/>
                <a:cs typeface="Avenir Next Condensed"/>
              </a:rPr>
              <a:t>3  COMPANY PLAYBOOK</a:t>
            </a:r>
          </a:p>
        </p:txBody>
      </p:sp>
      <p:sp>
        <p:nvSpPr>
          <p:cNvPr id="18" name="s2-playbook-title">
            <a:extLst xmlns:a="http://schemas.openxmlformats.org/drawingml/2006/main">
              <a:ext uri="{FF2B5EF4-FFF2-40B4-BE49-F238E27FC236}">
                <a16:creationId xmlns:a16="http://schemas.microsoft.com/office/drawing/2014/main" id="{60C203CA-DD98-4D08-9464-72A609EF84DB}"/>
              </a:ext>
            </a:extLst>
          </p:cNvPr>
          <p:cNvSpPr>
            <a:spLocks xmlns:a="http://schemas.openxmlformats.org/drawingml/2006/main" noGrp="1"/>
          </p:cNvSpPr>
          <p:nvPr/>
        </p:nvSpPr>
        <p:spPr>
          <a:xfrm xmlns:a="http://schemas.openxmlformats.org/drawingml/2006/main">
            <a:off x="8172450" y="3562350"/>
            <a:ext cx="3181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293331"/>
                </a:solidFill>
                <a:latin typeface="Avenir Next"/>
                <a:ea typeface="Avenir Next"/>
                <a:cs typeface="Avenir Next"/>
              </a:defRPr>
            </a:pPr>
            <a:r>
              <a:rPr sz="1950" b="1">
                <a:solidFill>
                  <a:srgbClr val="293331"/>
                </a:solidFill>
                <a:latin typeface="Avenir Next"/>
                <a:ea typeface="Avenir Next"/>
                <a:cs typeface="Avenir Next"/>
              </a:rPr>
              <a:t>Maximum 15% promotional discount</a:t>
            </a:r>
          </a:p>
        </p:txBody>
      </p:sp>
      <p:sp>
        <p:nvSpPr>
          <p:cNvPr id="19" name="s2-playbook-status">
            <a:extLst xmlns:a="http://schemas.openxmlformats.org/drawingml/2006/main">
              <a:ext uri="{FF2B5EF4-FFF2-40B4-BE49-F238E27FC236}">
                <a16:creationId xmlns:a16="http://schemas.microsoft.com/office/drawing/2014/main" id="{C203C6A2-3F7D-497C-9076-B9F313335662}"/>
              </a:ext>
            </a:extLst>
          </p:cNvPr>
          <p:cNvSpPr>
            <a:spLocks xmlns:a="http://schemas.openxmlformats.org/drawingml/2006/main" noGrp="1"/>
          </p:cNvSpPr>
          <p:nvPr/>
        </p:nvSpPr>
        <p:spPr>
          <a:xfrm xmlns:a="http://schemas.openxmlformats.org/drawingml/2006/main">
            <a:off x="8172450" y="45529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D654F"/>
                </a:solidFill>
                <a:latin typeface="Avenir Next"/>
                <a:ea typeface="Avenir Next"/>
                <a:cs typeface="Avenir Next"/>
              </a:defRPr>
            </a:pPr>
            <a:r>
              <a:rPr sz="1275" b="1">
                <a:solidFill>
                  <a:srgbClr val="ED654F"/>
                </a:solidFill>
                <a:latin typeface="Avenir Next"/>
                <a:ea typeface="Avenir Next"/>
                <a:cs typeface="Avenir Next"/>
              </a:rPr>
              <a:t>APPROVED · SOURCE-BACKED</a:t>
            </a:r>
          </a:p>
        </p:txBody>
      </p:sp>
      <p:sp>
        <p:nvSpPr>
          <p:cNvPr id="20" name="s2-bottom">
            <a:extLst xmlns:a="http://schemas.openxmlformats.org/drawingml/2006/main">
              <a:ext uri="{FF2B5EF4-FFF2-40B4-BE49-F238E27FC236}">
                <a16:creationId xmlns:a16="http://schemas.microsoft.com/office/drawing/2014/main" id="{732A71D1-EFB7-46DE-BCF3-015D28BDF5E2}"/>
              </a:ext>
            </a:extLst>
          </p:cNvPr>
          <p:cNvSpPr>
            <a:spLocks xmlns:a="http://schemas.openxmlformats.org/drawingml/2006/main" noGrp="1"/>
          </p:cNvSpPr>
          <p:nvPr/>
        </p:nvSpPr>
        <p:spPr>
          <a:xfrm xmlns:a="http://schemas.openxmlformats.org/drawingml/2006/main">
            <a:off x="1714500" y="5657850"/>
            <a:ext cx="876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FAF7EF"/>
                </a:solidFill>
                <a:latin typeface="Avenir Next"/>
                <a:ea typeface="Avenir Next"/>
                <a:cs typeface="Avenir Next"/>
              </a:defRPr>
            </a:pPr>
            <a:r>
              <a:rPr sz="2025" b="1">
                <a:solidFill>
                  <a:srgbClr val="FAF7EF"/>
                </a:solidFill>
                <a:latin typeface="Avenir Next"/>
                <a:ea typeface="Avenir Next"/>
                <a:cs typeface="Avenir Next"/>
              </a:rPr>
              <a:t>Nothing is saved as company truth until a human approves it.</a:t>
            </a:r>
          </a:p>
        </p:txBody>
      </p:sp>
      <p:sp>
        <p:nvSpPr>
          <p:cNvPr id="21" name="footer-brand-3">
            <a:extLst xmlns:a="http://schemas.openxmlformats.org/drawingml/2006/main">
              <a:ext uri="{FF2B5EF4-FFF2-40B4-BE49-F238E27FC236}">
                <a16:creationId xmlns:a16="http://schemas.microsoft.com/office/drawing/2014/main" id="{BDC2D622-C49D-467D-B728-6D6F3E0CEA88}"/>
              </a:ext>
            </a:extLst>
          </p:cNvPr>
          <p:cNvSpPr>
            <a:spLocks xmlns:a="http://schemas.openxmlformats.org/drawingml/2006/main" noGrp="1"/>
          </p:cNvSpPr>
          <p:nvPr/>
        </p:nvSpPr>
        <p:spPr>
          <a:xfrm xmlns:a="http://schemas.openxmlformats.org/drawingml/2006/main">
            <a:off x="552450" y="64198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AF7EF"/>
                </a:solidFill>
                <a:latin typeface="Avenir Next Condensed"/>
                <a:ea typeface="Avenir Next Condensed"/>
                <a:cs typeface="Avenir Next Condensed"/>
              </a:defRPr>
            </a:pPr>
            <a:r>
              <a:rPr sz="1125" b="1">
                <a:solidFill>
                  <a:srgbClr val="FAF7EF"/>
                </a:solidFill>
                <a:latin typeface="Avenir Next Condensed"/>
                <a:ea typeface="Avenir Next Condensed"/>
                <a:cs typeface="Avenir Next Condensed"/>
              </a:rPr>
              <a:t>MY LITTLE COMPANY</a:t>
            </a:r>
          </a:p>
        </p:txBody>
      </p:sp>
      <p:sp>
        <p:nvSpPr>
          <p:cNvPr id="22" name="footer-page-3">
            <a:extLst xmlns:a="http://schemas.openxmlformats.org/drawingml/2006/main">
              <a:ext uri="{FF2B5EF4-FFF2-40B4-BE49-F238E27FC236}">
                <a16:creationId xmlns:a16="http://schemas.microsoft.com/office/drawing/2014/main" id="{30C64F7E-2D8B-447F-8B55-18B21F2DD8F9}"/>
              </a:ext>
            </a:extLst>
          </p:cNvPr>
          <p:cNvSpPr>
            <a:spLocks xmlns:a="http://schemas.openxmlformats.org/drawingml/2006/main" noGrp="1"/>
          </p:cNvSpPr>
          <p:nvPr/>
        </p:nvSpPr>
        <p:spPr>
          <a:xfrm xmlns:a="http://schemas.openxmlformats.org/drawingml/2006/main">
            <a:off x="11144250" y="64198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4D77A"/>
                </a:solidFill>
                <a:latin typeface="Avenir Next"/>
                <a:ea typeface="Avenir Next"/>
                <a:cs typeface="Avenir Next"/>
              </a:defRPr>
            </a:pPr>
            <a:r>
              <a:rPr sz="1050" b="1">
                <a:solidFill>
                  <a:srgbClr val="F4D77A"/>
                </a:solidFill>
                <a:latin typeface="Avenir Next"/>
                <a:ea typeface="Avenir Next"/>
                <a:cs typeface="Avenir Next"/>
              </a:rPr>
              <a:t>03</a:t>
            </a:r>
          </a:p>
        </p:txBody>
      </p:sp>
    </p:spTree>
    <p:extLst>
      <p:ext uri="{BB962C8B-B14F-4D97-AF65-F5344CB8AC3E}">
        <p14:creationId xmlns:p14="http://schemas.microsoft.com/office/powerpoint/2010/main" val="26262015"/>
      </p:ext>
    </p:extLst>
  </p:cSld>
</p:sld>
</file>

<file path=ppt/slides/slide4.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 name="s3-title">
            <a:extLst xmlns:a="http://schemas.openxmlformats.org/drawingml/2006/main">
              <a:ext uri="{FF2B5EF4-FFF2-40B4-BE49-F238E27FC236}">
                <a16:creationId xmlns:a16="http://schemas.microsoft.com/office/drawing/2014/main" id="{193E6B09-F1C4-4626-A869-9154D79FD26A}"/>
              </a:ext>
            </a:extLst>
          </p:cNvPr>
          <p:cNvSpPr>
            <a:spLocks xmlns:a="http://schemas.openxmlformats.org/drawingml/2006/main" noGrp="1"/>
          </p:cNvSpPr>
          <p:nvPr/>
        </p:nvSpPr>
        <p:spPr>
          <a:xfrm xmlns:a="http://schemas.openxmlformats.org/drawingml/2006/main">
            <a:off x="552450" y="495300"/>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a:solidFill>
                  <a:srgbClr val="1746D1"/>
                </a:solidFill>
                <a:latin typeface="Avenir Next Condensed"/>
                <a:ea typeface="Avenir Next Condensed"/>
                <a:cs typeface="Avenir Next Condensed"/>
              </a:defRPr>
            </a:pPr>
            <a:r>
              <a:rPr sz="4350" b="1">
                <a:solidFill>
                  <a:srgbClr val="1746D1"/>
                </a:solidFill>
                <a:latin typeface="Avenir Next Condensed"/>
                <a:ea typeface="Avenir Next Condensed"/>
                <a:cs typeface="Avenir Next Condensed"/>
              </a:rPr>
              <a:t>Save it once. Every future chat starts smarter.</a:t>
            </a:r>
          </a:p>
        </p:txBody>
      </p:sp>
      <p:sp>
        <p:nvSpPr>
          <p:cNvPr id="2" name="s3-subtitle">
            <a:extLst xmlns:a="http://schemas.openxmlformats.org/drawingml/2006/main">
              <a:ext uri="{FF2B5EF4-FFF2-40B4-BE49-F238E27FC236}">
                <a16:creationId xmlns:a16="http://schemas.microsoft.com/office/drawing/2014/main" id="{DFE15AD2-8FD5-434B-9629-CAD80BECF6AA}"/>
              </a:ext>
            </a:extLst>
          </p:cNvPr>
          <p:cNvSpPr>
            <a:spLocks xmlns:a="http://schemas.openxmlformats.org/drawingml/2006/main" noGrp="1"/>
          </p:cNvSpPr>
          <p:nvPr/>
        </p:nvSpPr>
        <p:spPr>
          <a:xfrm xmlns:a="http://schemas.openxmlformats.org/drawingml/2006/main">
            <a:off x="590550" y="1428750"/>
            <a:ext cx="1019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93331"/>
                </a:solidFill>
                <a:latin typeface="Avenir Next"/>
                <a:ea typeface="Avenir Next"/>
                <a:cs typeface="Avenir Next"/>
              </a:defRPr>
            </a:pPr>
            <a:r>
              <a:rPr sz="1875" b="1">
                <a:solidFill>
                  <a:srgbClr val="293331"/>
                </a:solidFill>
                <a:latin typeface="Avenir Next"/>
                <a:ea typeface="Avenir Next"/>
                <a:cs typeface="Avenir Next"/>
              </a:rPr>
              <a:t>The Playbook gives Marketing, Operations, and employees the same approved answer.</a:t>
            </a:r>
          </a:p>
        </p:txBody>
      </p:sp>
      <p:sp>
        <p:nvSpPr>
          <p:cNvPr id="3" name="s3-arrow-0">
            <a:extLst xmlns:a="http://schemas.openxmlformats.org/drawingml/2006/main">
              <a:ext uri="{FF2B5EF4-FFF2-40B4-BE49-F238E27FC236}">
                <a16:creationId xmlns:a16="http://schemas.microsoft.com/office/drawing/2014/main" id="{6E73914D-482B-4650-811E-6B4538AEAF29}"/>
              </a:ext>
            </a:extLst>
          </p:cNvPr>
          <p:cNvSpPr>
            <a:spLocks xmlns:a="http://schemas.openxmlformats.org/drawingml/2006/main" noGrp="1"/>
          </p:cNvSpPr>
          <p:nvPr/>
        </p:nvSpPr>
        <p:spPr>
          <a:xfrm xmlns:a="http://schemas.openxmlformats.org/drawingml/2006/main">
            <a:off x="6191250" y="3028950"/>
            <a:ext cx="1143000" cy="323850"/>
          </a:xfrm>
          <a:prstGeom xmlns:a="http://schemas.openxmlformats.org/drawingml/2006/main" prst="rightArrow">
            <a:avLst/>
          </a:prstGeom>
          <a:solidFill xmlns:a="http://schemas.openxmlformats.org/drawingml/2006/main">
            <a:srgbClr val="1746D1"/>
          </a:solidFill>
          <a:ln xmlns:a="http://schemas.openxmlformats.org/drawingml/2006/main" w="0">
            <a:noFill/>
            <a:prstDash val="solid"/>
          </a:ln>
        </p:spPr>
      </p:sp>
      <p:sp>
        <p:nvSpPr>
          <p:cNvPr id="4" name="s3-arrow-1">
            <a:extLst xmlns:a="http://schemas.openxmlformats.org/drawingml/2006/main">
              <a:ext uri="{FF2B5EF4-FFF2-40B4-BE49-F238E27FC236}">
                <a16:creationId xmlns:a16="http://schemas.microsoft.com/office/drawing/2014/main" id="{6450C9B6-D693-4C26-9E95-966FCA0B3C28}"/>
              </a:ext>
            </a:extLst>
          </p:cNvPr>
          <p:cNvSpPr>
            <a:spLocks xmlns:a="http://schemas.openxmlformats.org/drawingml/2006/main" noGrp="1"/>
          </p:cNvSpPr>
          <p:nvPr/>
        </p:nvSpPr>
        <p:spPr>
          <a:xfrm xmlns:a="http://schemas.openxmlformats.org/drawingml/2006/main">
            <a:off x="6191250" y="4076700"/>
            <a:ext cx="1143000" cy="323850"/>
          </a:xfrm>
          <a:prstGeom xmlns:a="http://schemas.openxmlformats.org/drawingml/2006/main" prst="rightArrow">
            <a:avLst/>
          </a:prstGeom>
          <a:solidFill xmlns:a="http://schemas.openxmlformats.org/drawingml/2006/main">
            <a:srgbClr val="F4D77A"/>
          </a:solidFill>
          <a:ln xmlns:a="http://schemas.openxmlformats.org/drawingml/2006/main" w="0">
            <a:noFill/>
            <a:prstDash val="solid"/>
          </a:ln>
        </p:spPr>
      </p:sp>
      <p:sp>
        <p:nvSpPr>
          <p:cNvPr id="5" name="s3-arrow-2">
            <a:extLst xmlns:a="http://schemas.openxmlformats.org/drawingml/2006/main">
              <a:ext uri="{FF2B5EF4-FFF2-40B4-BE49-F238E27FC236}">
                <a16:creationId xmlns:a16="http://schemas.microsoft.com/office/drawing/2014/main" id="{A3626179-0B78-49AD-843E-F40DB26FAEAF}"/>
              </a:ext>
            </a:extLst>
          </p:cNvPr>
          <p:cNvSpPr>
            <a:spLocks xmlns:a="http://schemas.openxmlformats.org/drawingml/2006/main" noGrp="1"/>
          </p:cNvSpPr>
          <p:nvPr/>
        </p:nvSpPr>
        <p:spPr>
          <a:xfrm xmlns:a="http://schemas.openxmlformats.org/drawingml/2006/main">
            <a:off x="6191250" y="5124450"/>
            <a:ext cx="1143000" cy="323850"/>
          </a:xfrm>
          <a:prstGeom xmlns:a="http://schemas.openxmlformats.org/drawingml/2006/main" prst="rightArrow">
            <a:avLst/>
          </a:prstGeom>
          <a:solidFill xmlns:a="http://schemas.openxmlformats.org/drawingml/2006/main">
            <a:srgbClr val="ED654F"/>
          </a:solidFill>
          <a:ln xmlns:a="http://schemas.openxmlformats.org/drawingml/2006/main" w="0">
            <a:noFill/>
            <a:prstDash val="solid"/>
          </a:ln>
        </p:spPr>
      </p:sp>
      <p:sp>
        <p:nvSpPr>
          <p:cNvPr id="6" name="s3-memory">
            <a:extLst xmlns:a="http://schemas.openxmlformats.org/drawingml/2006/main">
              <a:ext uri="{FF2B5EF4-FFF2-40B4-BE49-F238E27FC236}">
                <a16:creationId xmlns:a16="http://schemas.microsoft.com/office/drawing/2014/main" id="{B0CE7C8E-FC2D-4281-8922-A8D2B75757BB}"/>
              </a:ext>
            </a:extLst>
          </p:cNvPr>
          <p:cNvSpPr>
            <a:spLocks xmlns:a="http://schemas.openxmlformats.org/drawingml/2006/main" noGrp="1"/>
          </p:cNvSpPr>
          <p:nvPr/>
        </p:nvSpPr>
        <p:spPr>
          <a:xfrm xmlns:a="http://schemas.openxmlformats.org/drawingml/2006/main">
            <a:off x="552450" y="2457450"/>
            <a:ext cx="5334000" cy="3238500"/>
          </a:xfrm>
          <a:prstGeom xmlns:a="http://schemas.openxmlformats.org/drawingml/2006/main" prst="roundRect">
            <a:avLst>
              <a:gd name="adj" fmla="val 6471"/>
            </a:avLst>
          </a:prstGeom>
          <a:solidFill xmlns:a="http://schemas.openxmlformats.org/drawingml/2006/main">
            <a:srgbClr val="1746D1"/>
          </a:solidFill>
          <a:ln xmlns:a="http://schemas.openxmlformats.org/drawingml/2006/main" w="0">
            <a:no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7d68e25025a4713"/>
          <a:stretch xmlns:a="http://schemas.openxmlformats.org/drawingml/2006/main"/>
        </p:blipFill>
        <p:spPr>
          <a:xfrm xmlns:a="http://schemas.openxmlformats.org/drawingml/2006/main">
            <a:off x="914400" y="2800350"/>
            <a:ext cx="819150" cy="819150"/>
          </a:xfrm>
          <a:prstGeom xmlns:a="http://schemas.openxmlformats.org/drawingml/2006/main" prst="roundRect">
            <a:avLst>
              <a:gd name="adj" fmla="val 20930"/>
            </a:avLst>
          </a:prstGeom>
        </p:spPr>
      </p:pic>
      <p:sp>
        <p:nvSpPr>
          <p:cNvPr id="8" name="s3-memory-label">
            <a:extLst xmlns:a="http://schemas.openxmlformats.org/drawingml/2006/main">
              <a:ext uri="{FF2B5EF4-FFF2-40B4-BE49-F238E27FC236}">
                <a16:creationId xmlns:a16="http://schemas.microsoft.com/office/drawing/2014/main" id="{4FDD209E-D75E-48C5-8A4D-62BABD291F40}"/>
              </a:ext>
            </a:extLst>
          </p:cNvPr>
          <p:cNvSpPr>
            <a:spLocks xmlns:a="http://schemas.openxmlformats.org/drawingml/2006/main" noGrp="1"/>
          </p:cNvSpPr>
          <p:nvPr/>
        </p:nvSpPr>
        <p:spPr>
          <a:xfrm xmlns:a="http://schemas.openxmlformats.org/drawingml/2006/main">
            <a:off x="1962150" y="28575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4D77A"/>
                </a:solidFill>
                <a:latin typeface="Avenir Next Condensed"/>
                <a:ea typeface="Avenir Next Condensed"/>
                <a:cs typeface="Avenir Next Condensed"/>
              </a:defRPr>
            </a:pPr>
            <a:r>
              <a:rPr sz="1575" b="1">
                <a:solidFill>
                  <a:srgbClr val="F4D77A"/>
                </a:solidFill>
                <a:latin typeface="Avenir Next Condensed"/>
                <a:ea typeface="Avenir Next Condensed"/>
                <a:cs typeface="Avenir Next Condensed"/>
              </a:rPr>
              <a:t>APPROVED COMPANY KNOWLEDGE</a:t>
            </a:r>
          </a:p>
        </p:txBody>
      </p:sp>
      <p:sp>
        <p:nvSpPr>
          <p:cNvPr id="9" name="s3-memory-title">
            <a:extLst xmlns:a="http://schemas.openxmlformats.org/drawingml/2006/main">
              <a:ext uri="{FF2B5EF4-FFF2-40B4-BE49-F238E27FC236}">
                <a16:creationId xmlns:a16="http://schemas.microsoft.com/office/drawing/2014/main" id="{87C325D6-909C-4623-B13B-7B48127A02B3}"/>
              </a:ext>
            </a:extLst>
          </p:cNvPr>
          <p:cNvSpPr>
            <a:spLocks xmlns:a="http://schemas.openxmlformats.org/drawingml/2006/main" noGrp="1"/>
          </p:cNvSpPr>
          <p:nvPr/>
        </p:nvSpPr>
        <p:spPr>
          <a:xfrm xmlns:a="http://schemas.openxmlformats.org/drawingml/2006/main">
            <a:off x="914400" y="3886200"/>
            <a:ext cx="4495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AF7EF"/>
                </a:solidFill>
                <a:latin typeface="Avenir Next"/>
                <a:ea typeface="Avenir Next"/>
                <a:cs typeface="Avenir Next"/>
              </a:defRPr>
            </a:pPr>
            <a:r>
              <a:rPr sz="2550" b="1">
                <a:solidFill>
                  <a:srgbClr val="FAF7EF"/>
                </a:solidFill>
                <a:latin typeface="Avenir Next"/>
                <a:ea typeface="Avenir Next"/>
                <a:cs typeface="Avenir Next"/>
              </a:rPr>
              <a:t>Promotional discounts must not exceed 15%.</a:t>
            </a:r>
          </a:p>
        </p:txBody>
      </p:sp>
      <p:sp>
        <p:nvSpPr>
          <p:cNvPr id="10" name="s3-memory-reason">
            <a:extLst xmlns:a="http://schemas.openxmlformats.org/drawingml/2006/main">
              <a:ext uri="{FF2B5EF4-FFF2-40B4-BE49-F238E27FC236}">
                <a16:creationId xmlns:a16="http://schemas.microsoft.com/office/drawing/2014/main" id="{EB73E312-8610-442B-BDD5-FD88C9751A6B}"/>
              </a:ext>
            </a:extLst>
          </p:cNvPr>
          <p:cNvSpPr>
            <a:spLocks xmlns:a="http://schemas.openxmlformats.org/drawingml/2006/main" noGrp="1"/>
          </p:cNvSpPr>
          <p:nvPr/>
        </p:nvSpPr>
        <p:spPr>
          <a:xfrm xmlns:a="http://schemas.openxmlformats.org/drawingml/2006/main">
            <a:off x="914400" y="49720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l">
              <a:defRPr sz="1650" b="0">
                <a:solidFill>
                  <a:srgbClr val="FAF7EF"/>
                </a:solidFill>
                <a:latin typeface="Avenir Next"/>
                <a:ea typeface="Avenir Next"/>
                <a:cs typeface="Avenir Next"/>
              </a:defRPr>
            </a:pPr>
            <a:r>
              <a:rPr sz="1650" b="0">
                <a:solidFill>
                  <a:srgbClr val="FAF7EF"/>
                </a:solidFill>
                <a:latin typeface="Avenir Next"/>
                <a:ea typeface="Avenir Next"/>
                <a:cs typeface="Avenir Next"/>
              </a:rPr>
              <a:t>Prefer free add-ons to protect the premium image.</a:t>
            </a:r>
          </a:p>
        </p:txBody>
      </p:sp>
      <p:sp>
        <p:nvSpPr>
          <p:cNvPr id="11" name="s3-role-0">
            <a:extLst xmlns:a="http://schemas.openxmlformats.org/drawingml/2006/main">
              <a:ext uri="{FF2B5EF4-FFF2-40B4-BE49-F238E27FC236}">
                <a16:creationId xmlns:a16="http://schemas.microsoft.com/office/drawing/2014/main" id="{9B68E3DD-472F-4D9C-BD5D-641381580010}"/>
              </a:ext>
            </a:extLst>
          </p:cNvPr>
          <p:cNvSpPr>
            <a:spLocks xmlns:a="http://schemas.openxmlformats.org/drawingml/2006/main" noGrp="1"/>
          </p:cNvSpPr>
          <p:nvPr/>
        </p:nvSpPr>
        <p:spPr>
          <a:xfrm xmlns:a="http://schemas.openxmlformats.org/drawingml/2006/main">
            <a:off x="7105650" y="2781300"/>
            <a:ext cx="4533900" cy="838200"/>
          </a:xfrm>
          <a:prstGeom xmlns:a="http://schemas.openxmlformats.org/drawingml/2006/main" prst="roundRect">
            <a:avLst>
              <a:gd name="adj" fmla="val 15909"/>
            </a:avLst>
          </a:prstGeom>
          <a:solidFill xmlns:a="http://schemas.openxmlformats.org/drawingml/2006/main">
            <a:srgbClr val="DCE5FF"/>
          </a:solidFill>
          <a:ln xmlns:a="http://schemas.openxmlformats.org/drawingml/2006/main" w="0">
            <a:noFill/>
            <a:prstDash val="solid"/>
          </a:ln>
        </p:spPr>
      </p:sp>
      <p:sp>
        <p:nvSpPr>
          <p:cNvPr id="12" name="s3-role-title-0">
            <a:extLst xmlns:a="http://schemas.openxmlformats.org/drawingml/2006/main">
              <a:ext uri="{FF2B5EF4-FFF2-40B4-BE49-F238E27FC236}">
                <a16:creationId xmlns:a16="http://schemas.microsoft.com/office/drawing/2014/main" id="{D70C41BC-D97B-4733-B6D4-0C74BFC4664E}"/>
              </a:ext>
            </a:extLst>
          </p:cNvPr>
          <p:cNvSpPr>
            <a:spLocks xmlns:a="http://schemas.openxmlformats.org/drawingml/2006/main" noGrp="1"/>
          </p:cNvSpPr>
          <p:nvPr/>
        </p:nvSpPr>
        <p:spPr>
          <a:xfrm xmlns:a="http://schemas.openxmlformats.org/drawingml/2006/main">
            <a:off x="7372350" y="29146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46D1"/>
                </a:solidFill>
                <a:latin typeface="Avenir Next Condensed"/>
                <a:ea typeface="Avenir Next Condensed"/>
                <a:cs typeface="Avenir Next Condensed"/>
              </a:defRPr>
            </a:pPr>
            <a:r>
              <a:rPr sz="1650" b="1">
                <a:solidFill>
                  <a:srgbClr val="1746D1"/>
                </a:solidFill>
                <a:latin typeface="Avenir Next Condensed"/>
                <a:ea typeface="Avenir Next Condensed"/>
                <a:cs typeface="Avenir Next Condensed"/>
              </a:rPr>
              <a:t>MARKETING</a:t>
            </a:r>
          </a:p>
        </p:txBody>
      </p:sp>
      <p:sp>
        <p:nvSpPr>
          <p:cNvPr id="13" name="s3-role-body-0">
            <a:extLst xmlns:a="http://schemas.openxmlformats.org/drawingml/2006/main">
              <a:ext uri="{FF2B5EF4-FFF2-40B4-BE49-F238E27FC236}">
                <a16:creationId xmlns:a16="http://schemas.microsoft.com/office/drawing/2014/main" id="{CA1E9C10-802C-476A-8DC8-C24D6A6C43FA}"/>
              </a:ext>
            </a:extLst>
          </p:cNvPr>
          <p:cNvSpPr>
            <a:spLocks xmlns:a="http://schemas.openxmlformats.org/drawingml/2006/main" noGrp="1"/>
          </p:cNvSpPr>
          <p:nvPr/>
        </p:nvSpPr>
        <p:spPr>
          <a:xfrm xmlns:a="http://schemas.openxmlformats.org/drawingml/2006/main">
            <a:off x="7372350" y="320040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746D1"/>
                </a:solidFill>
                <a:latin typeface="Avenir Next"/>
                <a:ea typeface="Avenir Next"/>
                <a:cs typeface="Avenir Next"/>
              </a:defRPr>
            </a:pPr>
            <a:r>
              <a:rPr sz="1350" b="1">
                <a:solidFill>
                  <a:srgbClr val="1746D1"/>
                </a:solidFill>
                <a:latin typeface="Avenir Next"/>
                <a:ea typeface="Avenir Next"/>
                <a:cs typeface="Avenir Next"/>
              </a:rPr>
              <a:t>Creates an offer within the rule</a:t>
            </a:r>
          </a:p>
        </p:txBody>
      </p:sp>
      <p:sp>
        <p:nvSpPr>
          <p:cNvPr id="14" name="s3-role-1">
            <a:extLst xmlns:a="http://schemas.openxmlformats.org/drawingml/2006/main">
              <a:ext uri="{FF2B5EF4-FFF2-40B4-BE49-F238E27FC236}">
                <a16:creationId xmlns:a16="http://schemas.microsoft.com/office/drawing/2014/main" id="{CC49D7D1-A626-4E91-99F0-7BC4ECF49574}"/>
              </a:ext>
            </a:extLst>
          </p:cNvPr>
          <p:cNvSpPr>
            <a:spLocks xmlns:a="http://schemas.openxmlformats.org/drawingml/2006/main" noGrp="1"/>
          </p:cNvSpPr>
          <p:nvPr/>
        </p:nvSpPr>
        <p:spPr>
          <a:xfrm xmlns:a="http://schemas.openxmlformats.org/drawingml/2006/main">
            <a:off x="7105650" y="3829050"/>
            <a:ext cx="4533900" cy="838200"/>
          </a:xfrm>
          <a:prstGeom xmlns:a="http://schemas.openxmlformats.org/drawingml/2006/main" prst="roundRect">
            <a:avLst>
              <a:gd name="adj" fmla="val 15909"/>
            </a:avLst>
          </a:prstGeom>
          <a:solidFill xmlns:a="http://schemas.openxmlformats.org/drawingml/2006/main">
            <a:srgbClr val="F4D77A"/>
          </a:solidFill>
          <a:ln xmlns:a="http://schemas.openxmlformats.org/drawingml/2006/main" w="0">
            <a:noFill/>
            <a:prstDash val="solid"/>
          </a:ln>
        </p:spPr>
      </p:sp>
      <p:sp>
        <p:nvSpPr>
          <p:cNvPr id="15" name="s3-role-title-1">
            <a:extLst xmlns:a="http://schemas.openxmlformats.org/drawingml/2006/main">
              <a:ext uri="{FF2B5EF4-FFF2-40B4-BE49-F238E27FC236}">
                <a16:creationId xmlns:a16="http://schemas.microsoft.com/office/drawing/2014/main" id="{DD6EDF94-B09D-4D44-90BD-CBA3E7DF81A5}"/>
              </a:ext>
            </a:extLst>
          </p:cNvPr>
          <p:cNvSpPr>
            <a:spLocks xmlns:a="http://schemas.openxmlformats.org/drawingml/2006/main" noGrp="1"/>
          </p:cNvSpPr>
          <p:nvPr/>
        </p:nvSpPr>
        <p:spPr>
          <a:xfrm xmlns:a="http://schemas.openxmlformats.org/drawingml/2006/main">
            <a:off x="7372350" y="3962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293331"/>
                </a:solidFill>
                <a:latin typeface="Avenir Next Condensed"/>
                <a:ea typeface="Avenir Next Condensed"/>
                <a:cs typeface="Avenir Next Condensed"/>
              </a:defRPr>
            </a:pPr>
            <a:r>
              <a:rPr sz="1650" b="1">
                <a:solidFill>
                  <a:srgbClr val="293331"/>
                </a:solidFill>
                <a:latin typeface="Avenir Next Condensed"/>
                <a:ea typeface="Avenir Next Condensed"/>
                <a:cs typeface="Avenir Next Condensed"/>
              </a:rPr>
              <a:t>OPERATIONS</a:t>
            </a:r>
          </a:p>
        </p:txBody>
      </p:sp>
      <p:sp>
        <p:nvSpPr>
          <p:cNvPr id="16" name="s3-role-body-1">
            <a:extLst xmlns:a="http://schemas.openxmlformats.org/drawingml/2006/main">
              <a:ext uri="{FF2B5EF4-FFF2-40B4-BE49-F238E27FC236}">
                <a16:creationId xmlns:a16="http://schemas.microsoft.com/office/drawing/2014/main" id="{BE090A07-5B4E-4A03-A17E-9B20C1A311B7}"/>
              </a:ext>
            </a:extLst>
          </p:cNvPr>
          <p:cNvSpPr>
            <a:spLocks xmlns:a="http://schemas.openxmlformats.org/drawingml/2006/main" noGrp="1"/>
          </p:cNvSpPr>
          <p:nvPr/>
        </p:nvSpPr>
        <p:spPr>
          <a:xfrm xmlns:a="http://schemas.openxmlformats.org/drawingml/2006/main">
            <a:off x="7372350" y="42481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93331"/>
                </a:solidFill>
                <a:latin typeface="Avenir Next"/>
                <a:ea typeface="Avenir Next"/>
                <a:cs typeface="Avenir Next"/>
              </a:defRPr>
            </a:pPr>
            <a:r>
              <a:rPr sz="1350" b="1">
                <a:solidFill>
                  <a:srgbClr val="293331"/>
                </a:solidFill>
                <a:latin typeface="Avenir Next"/>
                <a:ea typeface="Avenir Next"/>
                <a:cs typeface="Avenir Next"/>
              </a:rPr>
              <a:t>Turns the rule into repeatable steps</a:t>
            </a:r>
          </a:p>
        </p:txBody>
      </p:sp>
      <p:sp>
        <p:nvSpPr>
          <p:cNvPr id="17" name="s3-role-2">
            <a:extLst xmlns:a="http://schemas.openxmlformats.org/drawingml/2006/main">
              <a:ext uri="{FF2B5EF4-FFF2-40B4-BE49-F238E27FC236}">
                <a16:creationId xmlns:a16="http://schemas.microsoft.com/office/drawing/2014/main" id="{7F57A885-8DC5-4E20-95C5-8AAB5AE43D12}"/>
              </a:ext>
            </a:extLst>
          </p:cNvPr>
          <p:cNvSpPr>
            <a:spLocks xmlns:a="http://schemas.openxmlformats.org/drawingml/2006/main" noGrp="1"/>
          </p:cNvSpPr>
          <p:nvPr/>
        </p:nvSpPr>
        <p:spPr>
          <a:xfrm xmlns:a="http://schemas.openxmlformats.org/drawingml/2006/main">
            <a:off x="7105650" y="4876800"/>
            <a:ext cx="4533900" cy="838200"/>
          </a:xfrm>
          <a:prstGeom xmlns:a="http://schemas.openxmlformats.org/drawingml/2006/main" prst="roundRect">
            <a:avLst>
              <a:gd name="adj" fmla="val 15909"/>
            </a:avLst>
          </a:prstGeom>
          <a:solidFill xmlns:a="http://schemas.openxmlformats.org/drawingml/2006/main">
            <a:srgbClr val="ED654F"/>
          </a:solidFill>
          <a:ln xmlns:a="http://schemas.openxmlformats.org/drawingml/2006/main" w="0">
            <a:noFill/>
            <a:prstDash val="solid"/>
          </a:ln>
        </p:spPr>
      </p:sp>
      <p:sp>
        <p:nvSpPr>
          <p:cNvPr id="18" name="s3-role-title-2">
            <a:extLst xmlns:a="http://schemas.openxmlformats.org/drawingml/2006/main">
              <a:ext uri="{FF2B5EF4-FFF2-40B4-BE49-F238E27FC236}">
                <a16:creationId xmlns:a16="http://schemas.microsoft.com/office/drawing/2014/main" id="{AFBBBA88-8AE5-45FD-846E-2CBC73AA8E31}"/>
              </a:ext>
            </a:extLst>
          </p:cNvPr>
          <p:cNvSpPr>
            <a:spLocks xmlns:a="http://schemas.openxmlformats.org/drawingml/2006/main" noGrp="1"/>
          </p:cNvSpPr>
          <p:nvPr/>
        </p:nvSpPr>
        <p:spPr>
          <a:xfrm xmlns:a="http://schemas.openxmlformats.org/drawingml/2006/main">
            <a:off x="7372350" y="50101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AF7EF"/>
                </a:solidFill>
                <a:latin typeface="Avenir Next Condensed"/>
                <a:ea typeface="Avenir Next Condensed"/>
                <a:cs typeface="Avenir Next Condensed"/>
              </a:defRPr>
            </a:pPr>
            <a:r>
              <a:rPr sz="1650" b="1">
                <a:solidFill>
                  <a:srgbClr val="FAF7EF"/>
                </a:solidFill>
                <a:latin typeface="Avenir Next Condensed"/>
                <a:ea typeface="Avenir Next Condensed"/>
                <a:cs typeface="Avenir Next Condensed"/>
              </a:rPr>
              <a:t>EMPLOYEE</a:t>
            </a:r>
          </a:p>
        </p:txBody>
      </p:sp>
      <p:sp>
        <p:nvSpPr>
          <p:cNvPr id="19" name="s3-role-body-2">
            <a:extLst xmlns:a="http://schemas.openxmlformats.org/drawingml/2006/main">
              <a:ext uri="{FF2B5EF4-FFF2-40B4-BE49-F238E27FC236}">
                <a16:creationId xmlns:a16="http://schemas.microsoft.com/office/drawing/2014/main" id="{268A0C12-9101-4477-AB89-27E2DE7107AE}"/>
              </a:ext>
            </a:extLst>
          </p:cNvPr>
          <p:cNvSpPr>
            <a:spLocks xmlns:a="http://schemas.openxmlformats.org/drawingml/2006/main" noGrp="1"/>
          </p:cNvSpPr>
          <p:nvPr/>
        </p:nvSpPr>
        <p:spPr>
          <a:xfrm xmlns:a="http://schemas.openxmlformats.org/drawingml/2006/main">
            <a:off x="7372350" y="529590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AF7EF"/>
                </a:solidFill>
                <a:latin typeface="Avenir Next"/>
                <a:ea typeface="Avenir Next"/>
                <a:cs typeface="Avenir Next"/>
              </a:defRPr>
            </a:pPr>
            <a:r>
              <a:rPr sz="1350" b="1">
                <a:solidFill>
                  <a:srgbClr val="FAF7EF"/>
                </a:solidFill>
                <a:latin typeface="Avenir Next"/>
                <a:ea typeface="Avenir Next"/>
                <a:cs typeface="Avenir Next"/>
              </a:rPr>
              <a:t>Answers “Can I give 25% off?” → No</a:t>
            </a:r>
          </a:p>
        </p:txBody>
      </p:sp>
      <p:sp>
        <p:nvSpPr>
          <p:cNvPr id="20" name="s3-demo">
            <a:extLst xmlns:a="http://schemas.openxmlformats.org/drawingml/2006/main">
              <a:ext uri="{FF2B5EF4-FFF2-40B4-BE49-F238E27FC236}">
                <a16:creationId xmlns:a16="http://schemas.microsoft.com/office/drawing/2014/main" id="{7E51E552-0991-472A-8D46-F503442F5BF2}"/>
              </a:ext>
            </a:extLst>
          </p:cNvPr>
          <p:cNvSpPr>
            <a:spLocks xmlns:a="http://schemas.openxmlformats.org/drawingml/2006/main" noGrp="1"/>
          </p:cNvSpPr>
          <p:nvPr/>
        </p:nvSpPr>
        <p:spPr>
          <a:xfrm xmlns:a="http://schemas.openxmlformats.org/drawingml/2006/main">
            <a:off x="7905750" y="5829300"/>
            <a:ext cx="3733800" cy="533400"/>
          </a:xfrm>
          <a:prstGeom xmlns:a="http://schemas.openxmlformats.org/drawingml/2006/main" prst="roundRect">
            <a:avLst>
              <a:gd name="adj" fmla="val 17857"/>
            </a:avLst>
          </a:prstGeom>
          <a:solidFill xmlns:a="http://schemas.openxmlformats.org/drawingml/2006/main">
            <a:srgbClr val="ED654F"/>
          </a:solidFill>
          <a:ln xmlns:a="http://schemas.openxmlformats.org/drawingml/2006/main" w="0">
            <a:noFill/>
            <a:prstDash val="solid"/>
          </a:ln>
        </p:spPr>
        <p:txBody>
          <a:bodyPr xmlns:a="http://schemas.openxmlformats.org/drawingml/2006/main" lIns="133350" tIns="57150" rIns="133350" bIns="57150" anchor="ctr">
            <a:normAutofit fontScale="100000"/>
          </a:bodyPr>
          <a:lstStyle xmlns:a="http://schemas.openxmlformats.org/drawingml/2006/main"/>
          <a:p xmlns:a="http://schemas.openxmlformats.org/drawingml/2006/main">
            <a:pPr algn="ctr"/>
            <a:r>
              <a:rPr sz="2200" b="1">
                <a:solidFill>
                  <a:srgbClr val="FAF7EF"/>
                </a:solidFill>
                <a:latin typeface="Avenir Next Condensed"/>
                <a:ea typeface="Avenir Next Condensed"/>
                <a:cs typeface="Avenir Next Condensed"/>
                <a:hlinkClick xmlns:r="http://schemas.openxmlformats.org/officeDocument/2006/relationships" r:id="Rfafde4e7ed4d45f7"/>
              </a:rPr>
              <a:t>SEE IT HAPPEN LIVE  →</a:t>
            </a:r>
          </a:p>
        </p:txBody>
      </p:sp>
      <p:sp>
        <p:nvSpPr>
          <p:cNvPr id="21" name="footer-brand-4">
            <a:extLst xmlns:a="http://schemas.openxmlformats.org/drawingml/2006/main">
              <a:ext uri="{FF2B5EF4-FFF2-40B4-BE49-F238E27FC236}">
                <a16:creationId xmlns:a16="http://schemas.microsoft.com/office/drawing/2014/main" id="{25AB3FD6-04D0-4E68-AA29-E1A925FEE9EF}"/>
              </a:ext>
            </a:extLst>
          </p:cNvPr>
          <p:cNvSpPr>
            <a:spLocks xmlns:a="http://schemas.openxmlformats.org/drawingml/2006/main" noGrp="1"/>
          </p:cNvSpPr>
          <p:nvPr/>
        </p:nvSpPr>
        <p:spPr>
          <a:xfrm xmlns:a="http://schemas.openxmlformats.org/drawingml/2006/main">
            <a:off x="552450" y="64198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746D1"/>
                </a:solidFill>
                <a:latin typeface="Avenir Next Condensed"/>
                <a:ea typeface="Avenir Next Condensed"/>
                <a:cs typeface="Avenir Next Condensed"/>
              </a:defRPr>
            </a:pPr>
            <a:r>
              <a:rPr sz="1125" b="1">
                <a:solidFill>
                  <a:srgbClr val="1746D1"/>
                </a:solidFill>
                <a:latin typeface="Avenir Next Condensed"/>
                <a:ea typeface="Avenir Next Condensed"/>
                <a:cs typeface="Avenir Next Condensed"/>
              </a:rPr>
              <a:t>MY LITTLE COMPANY</a:t>
            </a:r>
          </a:p>
        </p:txBody>
      </p:sp>
      <p:sp>
        <p:nvSpPr>
          <p:cNvPr id="22" name="footer-page-4">
            <a:extLst xmlns:a="http://schemas.openxmlformats.org/drawingml/2006/main">
              <a:ext uri="{FF2B5EF4-FFF2-40B4-BE49-F238E27FC236}">
                <a16:creationId xmlns:a16="http://schemas.microsoft.com/office/drawing/2014/main" id="{945940C9-C10F-457C-9F98-F6BB8F1420B5}"/>
              </a:ext>
            </a:extLst>
          </p:cNvPr>
          <p:cNvSpPr>
            <a:spLocks xmlns:a="http://schemas.openxmlformats.org/drawingml/2006/main" noGrp="1"/>
          </p:cNvSpPr>
          <p:nvPr/>
        </p:nvSpPr>
        <p:spPr>
          <a:xfrm xmlns:a="http://schemas.openxmlformats.org/drawingml/2006/main">
            <a:off x="11144250" y="64198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93331"/>
                </a:solidFill>
                <a:latin typeface="Avenir Next"/>
                <a:ea typeface="Avenir Next"/>
                <a:cs typeface="Avenir Next"/>
              </a:defRPr>
            </a:pPr>
            <a:r>
              <a:rPr sz="1050" b="1">
                <a:solidFill>
                  <a:srgbClr val="293331"/>
                </a:solidFill>
                <a:latin typeface="Avenir Next"/>
                <a:ea typeface="Avenir Next"/>
                <a:cs typeface="Avenir Next"/>
              </a:rPr>
              <a:t>04</a:t>
            </a:r>
          </a:p>
        </p:txBody>
      </p:sp>
    </p:spTree>
    <p:extLst>
      <p:ext uri="{BB962C8B-B14F-4D97-AF65-F5344CB8AC3E}">
        <p14:creationId xmlns:p14="http://schemas.microsoft.com/office/powerpoint/2010/main" val="11431458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2026-07-11T10:50:52.8080000Z</dcterms:created>
  <dcterms:modified xsi:type="dcterms:W3CDTF">2026-07-11T10:50:52.8080000Z</dcterms:modified>
</coreProperties>
</file>